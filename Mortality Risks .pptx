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63" r:id="rId5"/>
    <p:sldId id="293" r:id="rId6"/>
    <p:sldId id="292" r:id="rId7"/>
    <p:sldId id="266" r:id="rId8"/>
    <p:sldId id="269" r:id="rId9"/>
    <p:sldId id="270" r:id="rId10"/>
    <p:sldId id="294" r:id="rId11"/>
    <p:sldId id="295" r:id="rId12"/>
    <p:sldId id="291" r:id="rId13"/>
    <p:sldId id="275" r:id="rId14"/>
    <p:sldId id="277" r:id="rId15"/>
    <p:sldId id="276" r:id="rId16"/>
    <p:sldId id="279" r:id="rId17"/>
    <p:sldId id="280" r:id="rId18"/>
    <p:sldId id="281" r:id="rId19"/>
    <p:sldId id="283" r:id="rId20"/>
    <p:sldId id="284" r:id="rId21"/>
    <p:sldId id="296" r:id="rId22"/>
    <p:sldId id="286" r:id="rId23"/>
    <p:sldId id="260" r:id="rId24"/>
  </p:sldIdLst>
  <p:sldSz cx="9144000" cy="5143500" type="screen16x9"/>
  <p:notesSz cx="6858000" cy="9144000"/>
  <p:defaultTextStyle>
    <a:defPPr>
      <a:defRPr lang="sv-S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21" userDrawn="1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4F4"/>
    <a:srgbClr val="C7ECDC"/>
    <a:srgbClr val="4F0433"/>
    <a:srgbClr val="CCEBED"/>
    <a:srgbClr val="FFDDD6"/>
    <a:srgbClr val="666666"/>
    <a:srgbClr val="DDDEE0"/>
    <a:srgbClr val="FF876F"/>
    <a:srgbClr val="FFE7C2"/>
    <a:srgbClr val="FFC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23" autoAdjust="0"/>
  </p:normalViewPr>
  <p:slideViewPr>
    <p:cSldViewPr snapToGrid="0">
      <p:cViewPr varScale="1">
        <p:scale>
          <a:sx n="117" d="100"/>
          <a:sy n="117" d="100"/>
        </p:scale>
        <p:origin x="228" y="57"/>
      </p:cViewPr>
      <p:guideLst>
        <p:guide orient="horz" pos="1121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m Jakobsson" userId="714657976a4ad2c7" providerId="LiveId" clId="{16CB4C42-5962-4E1B-839E-ED365206A33A}"/>
    <pc:docChg chg="modSld">
      <pc:chgData name="Jim Jakobsson" userId="714657976a4ad2c7" providerId="LiveId" clId="{16CB4C42-5962-4E1B-839E-ED365206A33A}" dt="2025-11-30T20:56:43.084" v="0" actId="6549"/>
      <pc:docMkLst>
        <pc:docMk/>
      </pc:docMkLst>
      <pc:sldChg chg="modSp mod">
        <pc:chgData name="Jim Jakobsson" userId="714657976a4ad2c7" providerId="LiveId" clId="{16CB4C42-5962-4E1B-839E-ED365206A33A}" dt="2025-11-30T20:56:43.084" v="0" actId="6549"/>
        <pc:sldMkLst>
          <pc:docMk/>
          <pc:sldMk cId="1099428093" sldId="263"/>
        </pc:sldMkLst>
        <pc:spChg chg="mod">
          <ac:chgData name="Jim Jakobsson" userId="714657976a4ad2c7" providerId="LiveId" clId="{16CB4C42-5962-4E1B-839E-ED365206A33A}" dt="2025-11-30T20:56:43.084" v="0" actId="6549"/>
          <ac:spMkLst>
            <pc:docMk/>
            <pc:sldMk cId="1099428093" sldId="263"/>
            <ac:spMk id="3" creationId="{1B4D2C54-6FB1-D0FC-01BE-847D5965E86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6818A54A-96AB-47F2-9FE3-5AA7C5EE68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77C3AE1-DBA2-4DA9-A7CE-D2A621C810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5F06C-14D9-45DF-81A5-F25F8ECA9886}" type="datetimeFigureOut">
              <a:rPr lang="sv-SE" smtClean="0"/>
              <a:t>2025-11-30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FB76FC6-F54A-4120-9B8F-E28E2A08E5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D9B89EF-3F47-4486-BAA9-AF9A8BE096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CC5D8-C806-4BBF-A442-91371CDD1BC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02378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F6DBA7-38D3-4FF9-B176-AA5B07999DDF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939290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5828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tart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Logotype Karolinska Institutet.">
            <a:extLst>
              <a:ext uri="{FF2B5EF4-FFF2-40B4-BE49-F238E27FC236}">
                <a16:creationId xmlns:a16="http://schemas.microsoft.com/office/drawing/2014/main" id="{5C58A32B-CE37-00A7-BB2A-05D502F73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478" y="262850"/>
            <a:ext cx="1691680" cy="704867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45332"/>
            <a:ext cx="7772400" cy="857250"/>
          </a:xfrm>
        </p:spPr>
        <p:txBody>
          <a:bodyPr anchor="ctr"/>
          <a:lstStyle>
            <a:lvl1pPr>
              <a:defRPr sz="3200" kern="1200" spc="-8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sv-SE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553444"/>
            <a:ext cx="7772400" cy="1314450"/>
          </a:xfrm>
        </p:spPr>
        <p:txBody>
          <a:bodyPr/>
          <a:lstStyle>
            <a:lvl1pPr marL="0" indent="0">
              <a:buFont typeface="Wingdings" charset="2"/>
              <a:buNone/>
              <a:defRPr sz="1800" spc="-2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sv-SE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slide">
    <p:bg>
      <p:bgPr>
        <a:solidFill>
          <a:srgbClr val="E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45332"/>
            <a:ext cx="7772400" cy="857250"/>
          </a:xfrm>
        </p:spPr>
        <p:txBody>
          <a:bodyPr anchor="ctr"/>
          <a:lstStyle>
            <a:lvl1pPr>
              <a:defRPr sz="3200" spc="-50" baseline="0">
                <a:solidFill>
                  <a:srgbClr val="4F0433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sv-SE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553444"/>
            <a:ext cx="7772400" cy="1314450"/>
          </a:xfrm>
        </p:spPr>
        <p:txBody>
          <a:bodyPr/>
          <a:lstStyle>
            <a:lvl1pPr marL="0" indent="0">
              <a:buFont typeface="Wingdings" charset="2"/>
              <a:buNone/>
              <a:defRPr sz="1800" spc="-20" baseline="0">
                <a:solidFill>
                  <a:srgbClr val="4F0433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sv-SE" noProof="0"/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C603663C-E919-D6CC-C27C-A79DE2DB90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5350510"/>
            <a:ext cx="36000" cy="171450"/>
          </a:xfrm>
        </p:spPr>
        <p:txBody>
          <a:bodyPr/>
          <a:lstStyle>
            <a:lvl1pPr>
              <a:defRPr sz="100"/>
            </a:lvl1pPr>
          </a:lstStyle>
          <a:p>
            <a:fld id="{9AA65CCE-10B8-4F00-A410-F691E95F218E}" type="datetime1">
              <a:rPr lang="en-GB" smtClean="0"/>
              <a:t>30/11/2025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1FA1C1BD-68FB-23DB-D315-C1BD71765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983" y="5424636"/>
            <a:ext cx="36000" cy="171450"/>
          </a:xfrm>
        </p:spPr>
        <p:txBody>
          <a:bodyPr/>
          <a:lstStyle>
            <a:lvl1pPr>
              <a:defRPr sz="100"/>
            </a:lvl1pPr>
          </a:lstStyle>
          <a:p>
            <a:r>
              <a:rPr lang="sv-SE"/>
              <a:t>Karolinska Institutet - a </a:t>
            </a:r>
            <a:r>
              <a:rPr lang="sv-SE" err="1"/>
              <a:t>medical</a:t>
            </a:r>
            <a:r>
              <a:rPr lang="sv-SE"/>
              <a:t> </a:t>
            </a:r>
            <a:r>
              <a:rPr lang="sv-SE" err="1"/>
              <a:t>university</a:t>
            </a:r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ABE92261-4993-1D09-0281-AF1AAACC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5350510"/>
            <a:ext cx="36000" cy="171450"/>
          </a:xfrm>
        </p:spPr>
        <p:txBody>
          <a:bodyPr/>
          <a:lstStyle>
            <a:lvl1pPr>
              <a:defRPr sz="100"/>
            </a:lvl1pPr>
          </a:lstStyle>
          <a:p>
            <a:fld id="{B5C8723E-5A40-4F9A-B83B-0F0B7FEF270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379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56774" y="1402829"/>
            <a:ext cx="8631243" cy="3190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009749DF-7E5C-713A-D45D-D9653C97C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</a:t>
            </a:r>
            <a:r>
              <a:rPr lang="sv-SE" err="1"/>
              <a:t>medical</a:t>
            </a:r>
            <a:r>
              <a:rPr lang="sv-SE"/>
              <a:t> </a:t>
            </a:r>
            <a:r>
              <a:rPr lang="sv-SE" err="1"/>
              <a:t>university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99A5A2-19A1-4CFC-BFE3-8B9C2E2B5BE0}" type="datetime1">
              <a:rPr lang="en-GB" smtClean="0"/>
              <a:t>30/11/2025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59C56-CB7E-413F-8971-4226A1EF6823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2632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+ 2 content p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ED75CC17-B226-9EC7-7062-ECD0FA065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73CEA02-8FD8-B27D-7351-D598B5116632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256774" y="1402829"/>
            <a:ext cx="4170039" cy="3190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711200" y="1403857"/>
            <a:ext cx="4170040" cy="31891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BBC55AFF-EEAC-CC84-7EDE-436AC101B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55F560-0FA5-4CC3-99C4-83095CAE330C}" type="datetime1">
              <a:rPr lang="en-GB" smtClean="0"/>
              <a:t>30/11/2025</a:t>
            </a:fld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9C98C6-00F0-4387-A9BA-FB521E0564CA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6848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0504E30-026F-2F4E-8AA4-42B2AD69F80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the first or second icon in the second row of icons to insert an image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8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1 conten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6C309769-9796-3F4C-16EC-30D95F727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AA63C4E-0A70-530E-97DF-2D2B5352F878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256774" y="1402829"/>
            <a:ext cx="4170039" cy="3190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932F5674-CEDF-3242-F062-BFE26C95349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11200" y="1404631"/>
            <a:ext cx="4170040" cy="318838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the first or second icon in the second row of icons to insert an image</a:t>
            </a:r>
            <a:endParaRPr lang="en-GB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B1D2BA1C-0344-BC2E-84D4-95E7F2FD7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</a:p>
        </p:txBody>
      </p:sp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6A3FCF-EDA7-4D26-BE8D-0D5098A7A2A0}" type="datetime1">
              <a:rPr lang="en-GB" smtClean="0"/>
              <a:t>30/11/2025</a:t>
            </a:fld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B570BB-7289-4069-9D4A-2FAE4107D42A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27238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6AB09F81-3DF8-1100-91E4-2C1919909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8" name="Platshållare för innehåll 7">
            <a:extLst>
              <a:ext uri="{FF2B5EF4-FFF2-40B4-BE49-F238E27FC236}">
                <a16:creationId xmlns:a16="http://schemas.microsoft.com/office/drawing/2014/main" id="{FFBD3AD7-6C44-F3A0-2593-5418DFBAB09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55971" y="1401312"/>
            <a:ext cx="4170038" cy="3193712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DM Sans" pitchFamily="2" charset="0"/>
              </a:rPr>
              <a:t>Click the first or second icon in the second row of icons to insert an image</a:t>
            </a:r>
            <a:endParaRPr lang="en-GB" b="0" i="0" u="none" strike="noStrike" baseline="0">
              <a:solidFill>
                <a:srgbClr val="000000"/>
              </a:solidFill>
              <a:latin typeface="DM Sans" pitchFamily="2" charset="0"/>
            </a:endParaRP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F22D20B-A38A-2C1F-3498-AC2B7335FC0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11200" y="1404631"/>
            <a:ext cx="4170040" cy="318838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the first or second icon in the second row of icons to insert an image</a:t>
            </a:r>
            <a:endParaRPr lang="en-GB"/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372DAC4F-41A4-C8F3-1E26-84893299D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B23C43-02AB-49EC-8F17-D0526280C47D}" type="datetime1">
              <a:rPr lang="en-GB" smtClean="0"/>
              <a:t>30/11/2025</a:t>
            </a:fld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6EECC-44D8-4442-87AA-D47F74CC81A2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5799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2 images m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BA1DA48D-062A-3C0F-2375-4EA717C42C5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55971" y="1401312"/>
            <a:ext cx="4170038" cy="2520145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DM Sans" pitchFamily="2" charset="0"/>
              </a:rPr>
              <a:t>Click the first or second icon in the second row of icons to insert an image</a:t>
            </a:r>
            <a:endParaRPr lang="en-GB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5"/>
          </p:nvPr>
        </p:nvSpPr>
        <p:spPr>
          <a:xfrm>
            <a:off x="255971" y="4016459"/>
            <a:ext cx="4170039" cy="578499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33CB555F-D425-F70E-7236-981C45B2BAF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711200" y="1404632"/>
            <a:ext cx="4170040" cy="2516826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DM Sans" pitchFamily="2" charset="0"/>
              </a:rPr>
              <a:t>Click the first or second icon in the second row of icons to insert an image</a:t>
            </a:r>
            <a:endParaRPr lang="en-GB" b="0" i="0" u="none" strike="noStrike" baseline="0">
              <a:solidFill>
                <a:srgbClr val="000000"/>
              </a:solidFill>
              <a:latin typeface="DM Sans" pitchFamily="2" charset="0"/>
            </a:endParaRPr>
          </a:p>
        </p:txBody>
      </p:sp>
      <p:sp>
        <p:nvSpPr>
          <p:cNvPr id="11" name="Platshållare för text 9"/>
          <p:cNvSpPr>
            <a:spLocks noGrp="1"/>
          </p:cNvSpPr>
          <p:nvPr>
            <p:ph type="body" sz="quarter" idx="16"/>
          </p:nvPr>
        </p:nvSpPr>
        <p:spPr>
          <a:xfrm>
            <a:off x="4711200" y="4016459"/>
            <a:ext cx="4170039" cy="574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sidfot 2">
            <a:extLst>
              <a:ext uri="{FF2B5EF4-FFF2-40B4-BE49-F238E27FC236}">
                <a16:creationId xmlns:a16="http://schemas.microsoft.com/office/drawing/2014/main" id="{D069920A-1206-9BEB-B428-2FE026E7B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</a:t>
            </a:r>
            <a:r>
              <a:rPr lang="sv-SE" err="1"/>
              <a:t>medical</a:t>
            </a:r>
            <a:r>
              <a:rPr lang="sv-SE"/>
              <a:t> </a:t>
            </a:r>
            <a:r>
              <a:rPr lang="sv-SE" err="1"/>
              <a:t>university</a:t>
            </a:r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4331-D6D1-4E26-B16A-55BB8118C67A}" type="datetime1">
              <a:rPr lang="en-GB" smtClean="0"/>
              <a:t>30/11/2025</a:t>
            </a:fld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8723E-5A40-4F9A-B83B-0F0B7FEF270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0158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009749DF-7E5C-713A-D45D-D9653C97C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99A5A2-19A1-4CFC-BFE3-8B9C2E2B5BE0}" type="datetime1">
              <a:rPr lang="en-GB" smtClean="0"/>
              <a:t>30/11/2025</a:t>
            </a:fld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59C56-CB7E-413F-8971-4226A1EF6823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6640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Logotype Karolinska Institutet.">
            <a:extLst>
              <a:ext uri="{FF2B5EF4-FFF2-40B4-BE49-F238E27FC236}">
                <a16:creationId xmlns:a16="http://schemas.microsoft.com/office/drawing/2014/main" id="{7AC1AD67-1AF6-B109-ABEC-31FF3DEF0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6951" y="1915479"/>
            <a:ext cx="3150096" cy="131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94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Logotype Karolinska Institutet.">
            <a:extLst>
              <a:ext uri="{FF2B5EF4-FFF2-40B4-BE49-F238E27FC236}">
                <a16:creationId xmlns:a16="http://schemas.microsoft.com/office/drawing/2014/main" id="{1A2DD4E6-57FC-99BA-083F-4F5711AA3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6951" y="1915479"/>
            <a:ext cx="3150096" cy="1312540"/>
          </a:xfrm>
          <a:prstGeom prst="rect">
            <a:avLst/>
          </a:prstGeom>
        </p:spPr>
      </p:pic>
      <p:sp>
        <p:nvSpPr>
          <p:cNvPr id="3" name="Platshållare för text 9">
            <a:extLst>
              <a:ext uri="{FF2B5EF4-FFF2-40B4-BE49-F238E27FC236}">
                <a16:creationId xmlns:a16="http://schemas.microsoft.com/office/drawing/2014/main" id="{28D153B6-736E-604E-CC38-30ABDB634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5971" y="4299942"/>
            <a:ext cx="8564501" cy="578499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368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5983" y="339502"/>
            <a:ext cx="8625257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bakgrundsrubriken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5983" y="1402830"/>
            <a:ext cx="8630513" cy="3185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C2080A6F-57B1-B9B7-BFFB-9C38D4F13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tabLst/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sv-SE"/>
              <a:t>Karolinska Institutet - a </a:t>
            </a:r>
            <a:r>
              <a:rPr lang="sv-SE" err="1"/>
              <a:t>medical</a:t>
            </a:r>
            <a:r>
              <a:rPr lang="sv-SE"/>
              <a:t> </a:t>
            </a:r>
            <a:r>
              <a:rPr lang="sv-SE" err="1"/>
              <a:t>university</a:t>
            </a:r>
            <a:endParaRPr lang="sv-S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3447" y="4788233"/>
            <a:ext cx="19050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fld id="{556C4A7E-66B8-4D02-A897-C064A39C4051}" type="datetime1">
              <a:rPr lang="en-GB" smtClean="0"/>
              <a:t>30/11/2025</a:t>
            </a:fld>
            <a:endParaRPr lang="sv-S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99847" y="4788233"/>
            <a:ext cx="6858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solidFill>
                  <a:schemeClr val="accent1"/>
                </a:solidFill>
                <a:latin typeface="+mn-lt"/>
              </a:defRPr>
            </a:lvl1pPr>
          </a:lstStyle>
          <a:p>
            <a:fld id="{B5C8723E-5A40-4F9A-B83B-0F0B7FEF2706}" type="slidenum">
              <a:rPr lang="sv-SE" smtClean="0"/>
              <a:pPr/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2" r:id="rId4"/>
    <p:sldLayoutId id="2147483654" r:id="rId5"/>
    <p:sldLayoutId id="2147483655" r:id="rId6"/>
    <p:sldLayoutId id="2147483657" r:id="rId7"/>
    <p:sldLayoutId id="2147483658" r:id="rId8"/>
    <p:sldLayoutId id="2147483663" r:id="rId9"/>
    <p:sldLayoutId id="2147483659" r:id="rId10"/>
    <p:sldLayoutId id="2147483662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 spc="-50" baseline="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buChar char="à"/>
        <a:defRPr sz="1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buChar char="à"/>
        <a:defRPr sz="12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250195B-8A87-0659-1403-6E7233781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Machine Learning for Mortality Risk Prediction: A Study on Cohort Data</a:t>
            </a:r>
            <a:endParaRPr lang="en-GB" noProof="0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B4D2C54-6FB1-D0FC-01BE-847D5965E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571749"/>
            <a:ext cx="7772400" cy="1800225"/>
          </a:xfrm>
        </p:spPr>
        <p:txBody>
          <a:bodyPr/>
          <a:lstStyle/>
          <a:p>
            <a:r>
              <a:rPr lang="en-GB" noProof="0" dirty="0"/>
              <a:t>MEB Aging Epidemiology Group</a:t>
            </a:r>
          </a:p>
          <a:p>
            <a:r>
              <a:rPr lang="en-GB" noProof="0" dirty="0"/>
              <a:t>Jim Jakobsson</a:t>
            </a:r>
          </a:p>
          <a:p>
            <a:r>
              <a:rPr lang="en-GB" dirty="0"/>
              <a:t>Supervisors: Sara </a:t>
            </a:r>
            <a:r>
              <a:rPr lang="en-GB" dirty="0" err="1"/>
              <a:t>Hägg</a:t>
            </a:r>
            <a:r>
              <a:rPr lang="en-GB" dirty="0"/>
              <a:t> , Patrik </a:t>
            </a:r>
            <a:r>
              <a:rPr lang="en-GB" dirty="0" err="1"/>
              <a:t>Edén</a:t>
            </a:r>
            <a:r>
              <a:rPr lang="en-GB" dirty="0"/>
              <a:t>, &amp; Anders </a:t>
            </a:r>
            <a:r>
              <a:rPr lang="en-GB" dirty="0" err="1"/>
              <a:t>Rantzer</a:t>
            </a:r>
            <a:endParaRPr lang="en-GB" noProof="0" dirty="0"/>
          </a:p>
          <a:p>
            <a:endParaRPr lang="en-GB" noProof="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4929733-4212-CC5C-2F7F-DA7CD15D0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104" y="1058983"/>
            <a:ext cx="914974" cy="914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42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3FB0E83-4447-8A12-0381-CA485D81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and Background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743EB27-0ABD-C960-13E6-B89355400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5B002BB-CCDB-45F5-3073-745EFFDD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30/11/2025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4E96DBE-2070-DA3F-BD96-81EE0134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</a:t>
            </a:fld>
            <a:endParaRPr lang="sv-SE"/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E4D28135-6719-C13D-3069-0024EF611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40136"/>
              </p:ext>
            </p:extLst>
          </p:nvPr>
        </p:nvGraphicFramePr>
        <p:xfrm>
          <a:off x="255575" y="1087442"/>
          <a:ext cx="8631244" cy="2174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517">
                  <a:extLst>
                    <a:ext uri="{9D8B030D-6E8A-4147-A177-3AD203B41FA5}">
                      <a16:colId xmlns:a16="http://schemas.microsoft.com/office/drawing/2014/main" val="4139294312"/>
                    </a:ext>
                  </a:extLst>
                </a:gridCol>
                <a:gridCol w="8034727">
                  <a:extLst>
                    <a:ext uri="{9D8B030D-6E8A-4147-A177-3AD203B41FA5}">
                      <a16:colId xmlns:a16="http://schemas.microsoft.com/office/drawing/2014/main" val="1903130465"/>
                    </a:ext>
                  </a:extLst>
                </a:gridCol>
              </a:tblGrid>
              <a:tr h="724959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noProof="0" dirty="0">
                          <a:solidFill>
                            <a:schemeClr val="tx1"/>
                          </a:solidFill>
                        </a:rPr>
                        <a:t>Mortality risks increase with age, the complex interactions of other factors relative to age are</a:t>
                      </a:r>
                      <a:r>
                        <a:rPr lang="en-GB" sz="1400" b="0" dirty="0">
                          <a:solidFill>
                            <a:schemeClr val="tx1"/>
                          </a:solidFill>
                        </a:rPr>
                        <a:t> less clear</a:t>
                      </a:r>
                      <a:endParaRPr lang="en-GB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241496"/>
                  </a:ext>
                </a:extLst>
              </a:tr>
              <a:tr h="724959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Analysing comprehensive datasets could clarify those factors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577227"/>
                  </a:ext>
                </a:extLst>
              </a:tr>
              <a:tr h="724959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Traditional statistical approaches, and humans, are limited in their ability to process high-dimensional data and detect non-linear patterns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900340"/>
                  </a:ext>
                </a:extLst>
              </a:tr>
            </a:tbl>
          </a:graphicData>
        </a:graphic>
      </p:graphicFrame>
      <p:pic>
        <p:nvPicPr>
          <p:cNvPr id="9" name="Bild 8" descr="Timglas fullt kontur">
            <a:extLst>
              <a:ext uri="{FF2B5EF4-FFF2-40B4-BE49-F238E27FC236}">
                <a16:creationId xmlns:a16="http://schemas.microsoft.com/office/drawing/2014/main" id="{494B854B-1E37-F985-FEAF-F2AAD8C70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749" y="1176342"/>
            <a:ext cx="538165" cy="538165"/>
          </a:xfrm>
          <a:prstGeom prst="rect">
            <a:avLst/>
          </a:prstGeom>
        </p:spPr>
      </p:pic>
      <p:pic>
        <p:nvPicPr>
          <p:cNvPr id="10" name="Bild 9" descr="Databas med hel fyllning">
            <a:extLst>
              <a:ext uri="{FF2B5EF4-FFF2-40B4-BE49-F238E27FC236}">
                <a16:creationId xmlns:a16="http://schemas.microsoft.com/office/drawing/2014/main" id="{CDD5A93E-D616-2F7E-2E6D-659905F775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5749" y="1897062"/>
            <a:ext cx="538165" cy="538165"/>
          </a:xfrm>
          <a:prstGeom prst="rect">
            <a:avLst/>
          </a:prstGeom>
        </p:spPr>
      </p:pic>
      <p:pic>
        <p:nvPicPr>
          <p:cNvPr id="11" name="Bild 10" descr="Statistik kontur">
            <a:extLst>
              <a:ext uri="{FF2B5EF4-FFF2-40B4-BE49-F238E27FC236}">
                <a16:creationId xmlns:a16="http://schemas.microsoft.com/office/drawing/2014/main" id="{6E9D789E-D08D-7E86-3E3A-1CFCDF54E8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85749" y="2618009"/>
            <a:ext cx="538165" cy="53816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3338763-CB0F-77D3-862F-6CCD6431E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74" y="3384990"/>
            <a:ext cx="8661417" cy="137847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1600" b="1" noProof="0" dirty="0">
                <a:ea typeface="+mn-lt"/>
                <a:cs typeface="+mn-lt"/>
              </a:rPr>
              <a:t>Machine learning offers powerful advantages:</a:t>
            </a:r>
            <a:endParaRPr lang="en-GB" sz="1600" b="1" noProof="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400" noProof="0" dirty="0">
                <a:ea typeface="+mn-lt"/>
                <a:cs typeface="+mn-lt"/>
              </a:rPr>
              <a:t>Analyse all records simultaneously</a:t>
            </a:r>
            <a:endParaRPr lang="en-GB" sz="1400" noProof="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400" noProof="0" dirty="0">
                <a:ea typeface="+mn-lt"/>
                <a:cs typeface="+mn-lt"/>
              </a:rPr>
              <a:t>Identify key predictors of mortality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400" dirty="0">
                <a:ea typeface="+mn-lt"/>
                <a:cs typeface="+mn-lt"/>
              </a:rPr>
              <a:t>Data-driven insights for personalised interventions</a:t>
            </a:r>
            <a:endParaRPr lang="en-GB" sz="1400" noProof="0" dirty="0"/>
          </a:p>
        </p:txBody>
      </p:sp>
    </p:spTree>
    <p:extLst>
      <p:ext uri="{BB962C8B-B14F-4D97-AF65-F5344CB8AC3E}">
        <p14:creationId xmlns:p14="http://schemas.microsoft.com/office/powerpoint/2010/main" val="2079703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C86B29-37CE-D8B1-19A6-B8046D1EF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 of Study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94E388E-FE42-67D3-655C-24C3D9112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74" y="1402830"/>
            <a:ext cx="8631243" cy="906984"/>
          </a:xfrm>
        </p:spPr>
        <p:txBody>
          <a:bodyPr/>
          <a:lstStyle/>
          <a:p>
            <a:pPr marL="0" indent="0">
              <a:buNone/>
            </a:pPr>
            <a:r>
              <a:rPr lang="en-GB" sz="1600" b="1" dirty="0"/>
              <a:t>The aim of the study is to apply</a:t>
            </a:r>
            <a:r>
              <a:rPr lang="en-GB" sz="1600" b="1" noProof="0" dirty="0"/>
              <a:t> machine learning to analyse SATSA, to identify patterns and predictors associated with mortality in aging adults</a:t>
            </a:r>
          </a:p>
          <a:p>
            <a:endParaRPr lang="en-GB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CE6192D-E705-0589-BCC0-7DB6A6CCA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22DF3C2-4B46-3449-4832-0DAE9F2F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30/11/2025</a:t>
            </a:fld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3B8E47B-CEE8-6480-0DEC-E887D34D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3</a:t>
            </a:fld>
            <a:endParaRPr lang="sv-SE"/>
          </a:p>
        </p:txBody>
      </p:sp>
      <p:graphicFrame>
        <p:nvGraphicFramePr>
          <p:cNvPr id="11" name="Tabell 10">
            <a:extLst>
              <a:ext uri="{FF2B5EF4-FFF2-40B4-BE49-F238E27FC236}">
                <a16:creationId xmlns:a16="http://schemas.microsoft.com/office/drawing/2014/main" id="{9EAC5F91-F87C-5BDE-817E-6792A498D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516090"/>
              </p:ext>
            </p:extLst>
          </p:nvPr>
        </p:nvGraphicFramePr>
        <p:xfrm>
          <a:off x="255971" y="2578100"/>
          <a:ext cx="8631243" cy="1760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517">
                  <a:extLst>
                    <a:ext uri="{9D8B030D-6E8A-4147-A177-3AD203B41FA5}">
                      <a16:colId xmlns:a16="http://schemas.microsoft.com/office/drawing/2014/main" val="4139294312"/>
                    </a:ext>
                  </a:extLst>
                </a:gridCol>
                <a:gridCol w="8034726">
                  <a:extLst>
                    <a:ext uri="{9D8B030D-6E8A-4147-A177-3AD203B41FA5}">
                      <a16:colId xmlns:a16="http://schemas.microsoft.com/office/drawing/2014/main" val="1903130465"/>
                    </a:ext>
                  </a:extLst>
                </a:gridCol>
              </a:tblGrid>
              <a:tr h="526391">
                <a:tc gridSpan="2">
                  <a:txBody>
                    <a:bodyPr/>
                    <a:lstStyle/>
                    <a:p>
                      <a:r>
                        <a:rPr lang="en-GB" sz="1600" dirty="0"/>
                        <a:t>Research questions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2301874"/>
                  </a:ext>
                </a:extLst>
              </a:tr>
              <a:tr h="617073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What are the strongest predictors for a 10 and 20 year mortality prediction among aging adults?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577227"/>
                  </a:ext>
                </a:extLst>
              </a:tr>
              <a:tr h="617073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Can tree-based supervised machine learning models accurately predict mortality risk using cohort data, without using </a:t>
                      </a:r>
                      <a:r>
                        <a:rPr lang="en-GB" sz="1400" noProof="0"/>
                        <a:t>synthetic imputations?</a:t>
                      </a:r>
                      <a:endParaRPr lang="en-GB" sz="1400" noProof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900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482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65C7C-0FA2-78B1-82DA-6348FE8E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71" y="339502"/>
            <a:ext cx="8632045" cy="857250"/>
          </a:xfrm>
        </p:spPr>
        <p:txBody>
          <a:bodyPr wrap="square" anchor="t">
            <a:normAutofit/>
          </a:bodyPr>
          <a:lstStyle/>
          <a:p>
            <a:r>
              <a:rPr lang="en-GB" b="0" i="0" u="none" strike="noStrike" noProof="0">
                <a:effectLst/>
              </a:rPr>
              <a:t>SATSA: The Swedish Adoption/Twin Study of Aging</a:t>
            </a:r>
            <a:r>
              <a:rPr lang="en-GB" b="0" i="0" noProof="0">
                <a:effectLst/>
              </a:rPr>
              <a:t>​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BDE5B-FDB9-8045-D393-D52D3C33E1B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56774" y="1262191"/>
            <a:ext cx="4170039" cy="2850084"/>
          </a:xfrm>
        </p:spPr>
        <p:txBody>
          <a:bodyPr wrap="square" anchor="ctr">
            <a:normAutofit lnSpcReduction="10000"/>
          </a:bodyPr>
          <a:lstStyle/>
          <a:p>
            <a:r>
              <a:rPr lang="en-GB" sz="1600" noProof="0" dirty="0"/>
              <a:t>Longitudinal study of twins started in 1978</a:t>
            </a:r>
          </a:p>
          <a:p>
            <a:r>
              <a:rPr lang="en-GB" sz="1600" noProof="0" dirty="0"/>
              <a:t>Unique focus on twins reared apart and together</a:t>
            </a:r>
          </a:p>
          <a:p>
            <a:r>
              <a:rPr lang="en-GB" sz="1600" noProof="0" dirty="0"/>
              <a:t>Comprehensive health and cognitive assessments over 10 measurements,  30+ years</a:t>
            </a:r>
          </a:p>
          <a:p>
            <a:r>
              <a:rPr lang="en-GB" sz="1600" noProof="0" dirty="0"/>
              <a:t>Data collected through:</a:t>
            </a:r>
          </a:p>
          <a:p>
            <a:pPr lvl="1"/>
            <a:r>
              <a:rPr lang="en-GB" sz="1400" noProof="0" dirty="0"/>
              <a:t>Questionnaires</a:t>
            </a:r>
          </a:p>
          <a:p>
            <a:pPr lvl="1"/>
            <a:r>
              <a:rPr lang="en-GB" sz="1400" noProof="0" dirty="0"/>
              <a:t>In-person tests</a:t>
            </a:r>
          </a:p>
          <a:p>
            <a:r>
              <a:rPr lang="en-GB" sz="1600" b="1" noProof="0" dirty="0"/>
              <a:t>Strength</a:t>
            </a:r>
            <a:r>
              <a:rPr lang="en-GB" sz="1600" noProof="0" dirty="0"/>
              <a:t>: multiple domains included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AE5E1-E616-27ED-8AAD-58C94ED49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200" y="1227718"/>
            <a:ext cx="4170040" cy="2919030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FAAF7-E80C-BB8F-B94B-38C22B49A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500" noProof="0"/>
              <a:t>Karolinska </a:t>
            </a:r>
            <a:r>
              <a:rPr lang="en-GB" sz="500" noProof="0" err="1"/>
              <a:t>Institutet</a:t>
            </a:r>
            <a:r>
              <a:rPr lang="en-GB" sz="500" noProof="0"/>
              <a:t>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798A4-CB11-3706-AA99-2B0D3F23C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30/11/2025</a:t>
            </a:fld>
            <a:endParaRPr lang="en-GB" sz="5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F2D3B-F567-CF7C-A54F-C806746B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GB" sz="500" noProof="0"/>
          </a:p>
        </p:txBody>
      </p:sp>
    </p:spTree>
    <p:extLst>
      <p:ext uri="{BB962C8B-B14F-4D97-AF65-F5344CB8AC3E}">
        <p14:creationId xmlns:p14="http://schemas.microsoft.com/office/powerpoint/2010/main" val="6534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1477-3E3E-F151-6D4E-9FC85B11A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71" y="339502"/>
            <a:ext cx="8632045" cy="857250"/>
          </a:xfrm>
        </p:spPr>
        <p:txBody>
          <a:bodyPr wrap="square" anchor="t">
            <a:normAutofit/>
          </a:bodyPr>
          <a:lstStyle/>
          <a:p>
            <a:r>
              <a:rPr lang="en-GB" noProof="0" dirty="0"/>
              <a:t>Description of In-Person Testing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9F8FF56-28DF-6C86-C195-0EF5FB5F199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58316" y="1432684"/>
            <a:ext cx="4170039" cy="2299946"/>
          </a:xfrm>
        </p:spPr>
        <p:txBody>
          <a:bodyPr/>
          <a:lstStyle/>
          <a:p>
            <a:r>
              <a:rPr lang="en-GB" sz="1600" noProof="0" dirty="0"/>
              <a:t>Eligibility: Pairs where both responded to </a:t>
            </a:r>
            <a:r>
              <a:rPr lang="en-GB" sz="1600" dirty="0"/>
              <a:t>the first questionnaire, </a:t>
            </a:r>
            <a:r>
              <a:rPr lang="en-GB" sz="1600" noProof="0" dirty="0"/>
              <a:t>age 50+</a:t>
            </a:r>
          </a:p>
          <a:p>
            <a:r>
              <a:rPr lang="en-GB" sz="1600" noProof="0" dirty="0"/>
              <a:t>First wave used: n=654, 423 variables</a:t>
            </a:r>
          </a:p>
          <a:p>
            <a:r>
              <a:rPr lang="en-GB" sz="1600" noProof="0" dirty="0"/>
              <a:t>Comprehensive assessments: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400" noProof="0" dirty="0"/>
              <a:t>General health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400" noProof="0" dirty="0"/>
              <a:t>Physical performance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400" noProof="0" dirty="0"/>
              <a:t>Cognitive testing</a:t>
            </a:r>
          </a:p>
          <a:p>
            <a:r>
              <a:rPr lang="en-GB" sz="1600" noProof="0" dirty="0"/>
              <a:t>Mean age: 63.9</a:t>
            </a:r>
          </a:p>
        </p:txBody>
      </p:sp>
      <p:pic>
        <p:nvPicPr>
          <p:cNvPr id="8" name="Content Placeholder 7" descr="A diagram of a test&#10;&#10;AI-generated content may be incorrect.">
            <a:extLst>
              <a:ext uri="{FF2B5EF4-FFF2-40B4-BE49-F238E27FC236}">
                <a16:creationId xmlns:a16="http://schemas.microsoft.com/office/drawing/2014/main" id="{C89A127A-36EF-AF6A-A51D-C72032A360AE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rcRect l="4386" r="7379"/>
          <a:stretch/>
        </p:blipFill>
        <p:spPr>
          <a:xfrm>
            <a:off x="4668780" y="1403887"/>
            <a:ext cx="4316867" cy="2357540"/>
          </a:xfr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70A4E-781F-B07F-A3B0-43877A865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500" noProof="0"/>
              <a:t>Karolinska </a:t>
            </a:r>
            <a:r>
              <a:rPr lang="en-GB" sz="500" noProof="0" err="1"/>
              <a:t>Institutet</a:t>
            </a:r>
            <a:r>
              <a:rPr lang="en-GB" sz="500" noProof="0"/>
              <a:t>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F7EDF-4CB1-F821-F22E-53A534AA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30/11/2025</a:t>
            </a:fld>
            <a:endParaRPr lang="en-GB" sz="5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5AE47-B14F-63F9-01BB-E69AF4EF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GB" sz="500" noProof="0"/>
          </a:p>
        </p:txBody>
      </p:sp>
    </p:spTree>
    <p:extLst>
      <p:ext uri="{BB962C8B-B14F-4D97-AF65-F5344CB8AC3E}">
        <p14:creationId xmlns:p14="http://schemas.microsoft.com/office/powerpoint/2010/main" val="3817475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6DB3-72A3-181B-6ED0-3F519EA9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71" y="339502"/>
            <a:ext cx="8632045" cy="857250"/>
          </a:xfrm>
        </p:spPr>
        <p:txBody>
          <a:bodyPr wrap="square" anchor="t">
            <a:normAutofit/>
          </a:bodyPr>
          <a:lstStyle/>
          <a:p>
            <a:r>
              <a:rPr lang="en-GB" noProof="0" dirty="0"/>
              <a:t>Examples of Variables Collected in the Study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36EC4-3E90-D5E0-6332-B1F53844D0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500" noProof="0"/>
              <a:t>Karolinska </a:t>
            </a:r>
            <a:r>
              <a:rPr lang="en-GB" sz="500" noProof="0" err="1"/>
              <a:t>Institutet</a:t>
            </a:r>
            <a:r>
              <a:rPr lang="en-GB" sz="500" noProof="0"/>
              <a:t> - a medical university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9715C-A993-7367-07DF-8467CD80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30/11/2025</a:t>
            </a:fld>
            <a:endParaRPr lang="en-GB" sz="500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26FA0E-5987-6BE9-B773-8A371281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GB" sz="500" noProof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F0D6CA-AD24-F8F9-0837-E9E063394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523713"/>
              </p:ext>
            </p:extLst>
          </p:nvPr>
        </p:nvGraphicFramePr>
        <p:xfrm>
          <a:off x="373223" y="987426"/>
          <a:ext cx="8398344" cy="3623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481">
                  <a:extLst>
                    <a:ext uri="{9D8B030D-6E8A-4147-A177-3AD203B41FA5}">
                      <a16:colId xmlns:a16="http://schemas.microsoft.com/office/drawing/2014/main" val="2697116355"/>
                    </a:ext>
                  </a:extLst>
                </a:gridCol>
                <a:gridCol w="1378105">
                  <a:extLst>
                    <a:ext uri="{9D8B030D-6E8A-4147-A177-3AD203B41FA5}">
                      <a16:colId xmlns:a16="http://schemas.microsoft.com/office/drawing/2014/main" val="3742205732"/>
                    </a:ext>
                  </a:extLst>
                </a:gridCol>
                <a:gridCol w="768374">
                  <a:extLst>
                    <a:ext uri="{9D8B030D-6E8A-4147-A177-3AD203B41FA5}">
                      <a16:colId xmlns:a16="http://schemas.microsoft.com/office/drawing/2014/main" val="40827602"/>
                    </a:ext>
                  </a:extLst>
                </a:gridCol>
                <a:gridCol w="1331212">
                  <a:extLst>
                    <a:ext uri="{9D8B030D-6E8A-4147-A177-3AD203B41FA5}">
                      <a16:colId xmlns:a16="http://schemas.microsoft.com/office/drawing/2014/main" val="1884680950"/>
                    </a:ext>
                  </a:extLst>
                </a:gridCol>
                <a:gridCol w="729408">
                  <a:extLst>
                    <a:ext uri="{9D8B030D-6E8A-4147-A177-3AD203B41FA5}">
                      <a16:colId xmlns:a16="http://schemas.microsoft.com/office/drawing/2014/main" val="1507619336"/>
                    </a:ext>
                  </a:extLst>
                </a:gridCol>
                <a:gridCol w="1370178">
                  <a:extLst>
                    <a:ext uri="{9D8B030D-6E8A-4147-A177-3AD203B41FA5}">
                      <a16:colId xmlns:a16="http://schemas.microsoft.com/office/drawing/2014/main" val="550961749"/>
                    </a:ext>
                  </a:extLst>
                </a:gridCol>
                <a:gridCol w="802058">
                  <a:extLst>
                    <a:ext uri="{9D8B030D-6E8A-4147-A177-3AD203B41FA5}">
                      <a16:colId xmlns:a16="http://schemas.microsoft.com/office/drawing/2014/main" val="2022310308"/>
                    </a:ext>
                  </a:extLst>
                </a:gridCol>
                <a:gridCol w="1297528">
                  <a:extLst>
                    <a:ext uri="{9D8B030D-6E8A-4147-A177-3AD203B41FA5}">
                      <a16:colId xmlns:a16="http://schemas.microsoft.com/office/drawing/2014/main" val="2074103125"/>
                    </a:ext>
                  </a:extLst>
                </a:gridCol>
              </a:tblGrid>
              <a:tr h="363562">
                <a:tc gridSpan="2">
                  <a:txBody>
                    <a:bodyPr/>
                    <a:lstStyle/>
                    <a:p>
                      <a:pPr lvl="0">
                        <a:lnSpc>
                          <a:spcPts val="1050"/>
                        </a:lnSpc>
                        <a:buNone/>
                      </a:pPr>
                      <a:r>
                        <a:rPr lang="en-GB" sz="1100" b="1" noProof="0" dirty="0">
                          <a:solidFill>
                            <a:srgbClr val="FFFFFF"/>
                          </a:solidFill>
                          <a:effectLst/>
                          <a:latin typeface="Noto Sans"/>
                        </a:rPr>
                        <a:t>Cognitive Performance</a:t>
                      </a:r>
                      <a:endParaRPr lang="en-GB" noProof="0" dirty="0"/>
                    </a:p>
                  </a:txBody>
                  <a:tcPr marL="103559" marR="103559" marT="51779" marB="51779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4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>
                        <a:lnSpc>
                          <a:spcPts val="1050"/>
                        </a:lnSpc>
                        <a:buNone/>
                      </a:pPr>
                      <a:r>
                        <a:rPr lang="en-GB" sz="1100" b="1" noProof="0">
                          <a:solidFill>
                            <a:srgbClr val="FFFFFF"/>
                          </a:solidFill>
                          <a:effectLst/>
                          <a:latin typeface="Noto Sans"/>
                        </a:rPr>
                        <a:t>Cardiovascular measurements</a:t>
                      </a:r>
                      <a:endParaRPr lang="en-GB" noProof="0"/>
                    </a:p>
                  </a:txBody>
                  <a:tcPr marL="103559" marR="103559" marT="51779" marB="51779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4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>
                        <a:lnSpc>
                          <a:spcPts val="1050"/>
                        </a:lnSpc>
                        <a:buNone/>
                      </a:pPr>
                      <a:r>
                        <a:rPr lang="en-GB" sz="1100" b="1" noProof="0" dirty="0">
                          <a:solidFill>
                            <a:srgbClr val="FFFFFF"/>
                          </a:solidFill>
                          <a:effectLst/>
                          <a:latin typeface="Noto Sans"/>
                        </a:rPr>
                        <a:t>Respiratory function</a:t>
                      </a:r>
                    </a:p>
                  </a:txBody>
                  <a:tcPr marL="103559" marR="103559" marT="51779" marB="51779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4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noProof="0">
                          <a:solidFill>
                            <a:srgbClr val="FFFFFF"/>
                          </a:solidFill>
                          <a:effectLst/>
                          <a:latin typeface="Noto Sans"/>
                        </a:rPr>
                        <a:t>Functional Abilities</a:t>
                      </a:r>
                    </a:p>
                    <a:p>
                      <a:pPr lvl="0">
                        <a:lnSpc>
                          <a:spcPts val="1050"/>
                        </a:lnSpc>
                        <a:buNone/>
                      </a:pPr>
                      <a:endParaRPr lang="en-GB" sz="1100" b="1" noProof="0">
                        <a:solidFill>
                          <a:srgbClr val="FFFFFF"/>
                        </a:solidFill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4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541155"/>
                  </a:ext>
                </a:extLst>
              </a:tr>
              <a:tr h="337901">
                <a:tc>
                  <a:txBody>
                    <a:bodyPr/>
                    <a:lstStyle/>
                    <a:p>
                      <a:pPr lvl="0">
                        <a:lnSpc>
                          <a:spcPts val="1050"/>
                        </a:lnSpc>
                        <a:buNone/>
                      </a:pPr>
                      <a:r>
                        <a:rPr lang="en-GB" sz="1000" noProof="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Variable name</a:t>
                      </a:r>
                    </a:p>
                  </a:txBody>
                  <a:tcPr marL="103559" marR="103559" marT="51779" marB="51779" anchor="ctr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Variable description</a:t>
                      </a:r>
                    </a:p>
                  </a:txBody>
                  <a:tcPr marL="103559" marR="103559" marT="51779" marB="51779" anchor="ctr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050"/>
                        </a:lnSpc>
                        <a:buNone/>
                      </a:pPr>
                      <a:r>
                        <a:rPr lang="en-GB" sz="1000" noProof="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Variable name</a:t>
                      </a:r>
                    </a:p>
                  </a:txBody>
                  <a:tcPr marL="103559" marR="103559" marT="51779" marB="51779" anchor="ctr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Variable description</a:t>
                      </a:r>
                    </a:p>
                  </a:txBody>
                  <a:tcPr marL="103559" marR="103559" marT="51779" marB="51779" anchor="ctr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050"/>
                        </a:lnSpc>
                        <a:buNone/>
                      </a:pPr>
                      <a:r>
                        <a:rPr lang="en-GB" sz="1000" noProof="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Variable name</a:t>
                      </a:r>
                    </a:p>
                  </a:txBody>
                  <a:tcPr marL="103559" marR="103559" marT="51779" marB="51779" anchor="ctr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Variable description</a:t>
                      </a:r>
                    </a:p>
                  </a:txBody>
                  <a:tcPr marL="103559" marR="103559" marT="51779" marB="51779" anchor="ctr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050"/>
                        </a:lnSpc>
                        <a:buNone/>
                      </a:pPr>
                      <a:r>
                        <a:rPr lang="en-GB" sz="1000" noProof="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Variable name</a:t>
                      </a:r>
                    </a:p>
                  </a:txBody>
                  <a:tcPr marL="103559" marR="103559" marT="51779" marB="51779" anchor="ctr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Variable description</a:t>
                      </a:r>
                    </a:p>
                  </a:txBody>
                  <a:tcPr marL="103559" marR="103559" marT="51779" marB="51779" anchor="ctr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93665"/>
                  </a:ext>
                </a:extLst>
              </a:tr>
              <a:tr h="942901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b="0" noProof="0" dirty="0" err="1">
                          <a:effectLst/>
                          <a:latin typeface="Noto Sans"/>
                        </a:rPr>
                        <a:t>asymb</a:t>
                      </a:r>
                      <a:endParaRPr lang="en-GB" sz="1100" b="0" noProof="0" dirty="0">
                        <a:effectLst/>
                        <a:latin typeface="Noto Sans"/>
                      </a:endParaRPr>
                    </a:p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b="0" noProof="0" dirty="0" err="1">
                          <a:effectLst/>
                          <a:latin typeface="Noto Sans"/>
                        </a:rPr>
                        <a:t>bsymb</a:t>
                      </a:r>
                      <a:endParaRPr lang="en-GB" sz="1100" b="0" noProof="0" dirty="0">
                        <a:effectLst/>
                        <a:latin typeface="Noto Sans"/>
                      </a:endParaRPr>
                    </a:p>
                    <a:p>
                      <a:pPr algn="l" fontAlgn="base">
                        <a:lnSpc>
                          <a:spcPts val="1050"/>
                        </a:lnSpc>
                      </a:pPr>
                      <a:endParaRPr lang="en-GB" sz="1100" b="0" noProof="0" dirty="0"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noProof="0" dirty="0">
                          <a:effectLst/>
                          <a:latin typeface="Noto Sans"/>
                        </a:rPr>
                        <a:t>Perceptual speed  </a:t>
                      </a:r>
                      <a:r>
                        <a:rPr lang="en-GB" sz="1100" noProof="0" dirty="0">
                          <a:effectLst/>
                          <a:latin typeface="Noto Sans"/>
                        </a:rPr>
                        <a:t>- identify corresponding digits for a series of symbols</a:t>
                      </a:r>
                    </a:p>
                    <a:p>
                      <a:pPr algn="l" fontAlgn="base">
                        <a:lnSpc>
                          <a:spcPts val="1050"/>
                        </a:lnSpc>
                      </a:pPr>
                      <a:endParaRPr lang="en-GB" sz="1100" noProof="0" dirty="0"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b="0" noProof="0" dirty="0" err="1">
                          <a:effectLst/>
                          <a:latin typeface="Noto Sans"/>
                        </a:rPr>
                        <a:t>bpsres</a:t>
                      </a:r>
                      <a:endParaRPr lang="en-GB" sz="1100" b="0" noProof="0" dirty="0"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effectLst/>
                          <a:latin typeface="Noto Sans"/>
                        </a:rPr>
                        <a:t>Blood pressure</a:t>
                      </a: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Noto Sans"/>
                        </a:rPr>
                        <a:t>fv1</a:t>
                      </a:r>
                    </a:p>
                  </a:txBody>
                  <a:tcPr marL="103559" marR="103559" marT="51779" marB="51779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Noto Sans"/>
                        </a:rPr>
                        <a:t>Forced expiratory volume, 1 second </a:t>
                      </a: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b="0" noProof="0" dirty="0">
                          <a:effectLst/>
                          <a:latin typeface="Noto Sans"/>
                        </a:rPr>
                        <a:t>strength</a:t>
                      </a:r>
                    </a:p>
                  </a:txBody>
                  <a:tcPr marL="103559" marR="103559" marT="51779" marB="51779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noProof="0" dirty="0">
                          <a:effectLst/>
                          <a:latin typeface="Noto Sans"/>
                        </a:rPr>
                        <a:t>Grip strength </a:t>
                      </a: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8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073451"/>
                  </a:ext>
                </a:extLst>
              </a:tr>
              <a:tr h="942901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b="0" noProof="0" dirty="0">
                          <a:effectLst/>
                          <a:latin typeface="Noto Sans"/>
                        </a:rPr>
                        <a:t>face1</a:t>
                      </a:r>
                    </a:p>
                  </a:txBody>
                  <a:tcPr marL="103559" marR="103559" marT="51779" marB="51779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effectLst/>
                          <a:latin typeface="Noto Sans"/>
                        </a:rPr>
                        <a:t>Correctly identify previously viewed faces</a:t>
                      </a:r>
                    </a:p>
                    <a:p>
                      <a:pPr algn="l" fontAlgn="base">
                        <a:lnSpc>
                          <a:spcPts val="1050"/>
                        </a:lnSpc>
                      </a:pPr>
                      <a:endParaRPr lang="en-GB" sz="1100" noProof="0" dirty="0"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b="0" noProof="0" dirty="0">
                          <a:effectLst/>
                          <a:latin typeface="Noto Sans"/>
                        </a:rPr>
                        <a:t>tg1</a:t>
                      </a:r>
                    </a:p>
                  </a:txBody>
                  <a:tcPr marL="103559" marR="103559" marT="51779" marB="51779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effectLst/>
                          <a:latin typeface="Noto Sans"/>
                        </a:rPr>
                        <a:t>Triglycerides</a:t>
                      </a: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b="0" noProof="0" dirty="0" err="1">
                          <a:effectLst/>
                          <a:latin typeface="Noto Sans"/>
                        </a:rPr>
                        <a:t>fvc</a:t>
                      </a:r>
                      <a:endParaRPr lang="en-GB" sz="1100" b="0" noProof="0" dirty="0"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noProof="0" dirty="0">
                          <a:effectLst/>
                          <a:latin typeface="Noto Sans"/>
                        </a:rPr>
                        <a:t>Forced vital capacity </a:t>
                      </a: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b="0" noProof="0" dirty="0">
                          <a:effectLst/>
                          <a:latin typeface="Noto Sans"/>
                        </a:rPr>
                        <a:t>activities of daily living </a:t>
                      </a:r>
                    </a:p>
                    <a:p>
                      <a:pPr algn="l" fontAlgn="base">
                        <a:lnSpc>
                          <a:spcPts val="1050"/>
                        </a:lnSpc>
                      </a:pPr>
                      <a:endParaRPr lang="en-GB" sz="1100" b="0" noProof="0" dirty="0"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effectLst/>
                          <a:latin typeface="Noto Sans"/>
                        </a:rPr>
                        <a:t>Screw in a lightbulb, rotary telephone, put coins into slots</a:t>
                      </a: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864030"/>
                  </a:ext>
                </a:extLst>
              </a:tr>
              <a:tr h="942901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b="0" noProof="0" dirty="0" err="1">
                          <a:effectLst/>
                          <a:latin typeface="Noto Sans"/>
                        </a:rPr>
                        <a:t>arottot</a:t>
                      </a:r>
                      <a:endParaRPr lang="en-GB" sz="1100" b="0" noProof="0" dirty="0"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0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effectLst/>
                          <a:latin typeface="Noto Sans"/>
                        </a:rPr>
                        <a:t>Spatial ability – card rotations. Determine if card is rotated compared to reference</a:t>
                      </a: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b="0" noProof="0" dirty="0" err="1">
                          <a:effectLst/>
                          <a:latin typeface="Noto Sans"/>
                        </a:rPr>
                        <a:t>sedim</a:t>
                      </a:r>
                      <a:endParaRPr lang="en-GB" sz="1100" b="0" noProof="0" dirty="0"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noProof="0" dirty="0">
                          <a:effectLst/>
                          <a:latin typeface="Noto Sans"/>
                        </a:rPr>
                        <a:t>Erythrocyte sedimentation rate </a:t>
                      </a: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b="0" noProof="0" dirty="0" err="1">
                          <a:effectLst/>
                          <a:latin typeface="Noto Sans"/>
                        </a:rPr>
                        <a:t>kvotvc</a:t>
                      </a:r>
                      <a:r>
                        <a:rPr lang="en-GB" sz="1100" b="0" noProof="0" dirty="0">
                          <a:effectLst/>
                          <a:latin typeface="Noto Sans"/>
                        </a:rPr>
                        <a:t> </a:t>
                      </a:r>
                    </a:p>
                  </a:txBody>
                  <a:tcPr marL="103559" marR="103559" marT="51779" marB="51779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r>
                        <a:rPr lang="en-GB" sz="1100" noProof="0" dirty="0">
                          <a:effectLst/>
                          <a:latin typeface="Noto Sans"/>
                        </a:rPr>
                        <a:t>Ratio fv1/</a:t>
                      </a:r>
                      <a:r>
                        <a:rPr lang="en-GB" sz="1100" noProof="0" dirty="0" err="1">
                          <a:effectLst/>
                          <a:latin typeface="Noto Sans"/>
                        </a:rPr>
                        <a:t>fvc</a:t>
                      </a:r>
                      <a:endParaRPr lang="en-GB" sz="1100" noProof="0" dirty="0"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endParaRPr lang="en-GB" sz="1100" b="0" noProof="0" dirty="0"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</a:pPr>
                      <a:endParaRPr lang="en-GB" sz="1100" noProof="0" dirty="0">
                        <a:effectLst/>
                        <a:latin typeface="Noto Sans"/>
                      </a:endParaRPr>
                    </a:p>
                  </a:txBody>
                  <a:tcPr marL="103559" marR="103559" marT="51779" marB="51779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2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421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51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4085E8E-E319-790E-7D03-F0756CA79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3759DE57-A376-6E19-C956-FC143C63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30/11/2025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F0C4C7B-3EA9-F7C0-DAAB-5498986F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7</a:t>
            </a:fld>
            <a:endParaRPr lang="sv-SE"/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E8C5A08E-526F-ABE4-1B75-0A8186A10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313120"/>
              </p:ext>
            </p:extLst>
          </p:nvPr>
        </p:nvGraphicFramePr>
        <p:xfrm>
          <a:off x="347662" y="1403350"/>
          <a:ext cx="8258176" cy="3321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734">
                  <a:extLst>
                    <a:ext uri="{9D8B030D-6E8A-4147-A177-3AD203B41FA5}">
                      <a16:colId xmlns:a16="http://schemas.microsoft.com/office/drawing/2014/main" val="4061688916"/>
                    </a:ext>
                  </a:extLst>
                </a:gridCol>
                <a:gridCol w="7687442">
                  <a:extLst>
                    <a:ext uri="{9D8B030D-6E8A-4147-A177-3AD203B41FA5}">
                      <a16:colId xmlns:a16="http://schemas.microsoft.com/office/drawing/2014/main" val="3475714110"/>
                    </a:ext>
                  </a:extLst>
                </a:gridCol>
              </a:tblGrid>
              <a:tr h="553508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noProof="0" dirty="0">
                          <a:solidFill>
                            <a:schemeClr val="tx1"/>
                          </a:solidFill>
                        </a:rPr>
                        <a:t>It is a dataset containing vast amounts of data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537592"/>
                  </a:ext>
                </a:extLst>
              </a:tr>
              <a:tr h="553508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Complex interactions between 400+ variables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059995"/>
                  </a:ext>
                </a:extLst>
              </a:tr>
              <a:tr h="553508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Several missing values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510762"/>
                  </a:ext>
                </a:extLst>
              </a:tr>
              <a:tr h="553508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Identification and handling of </a:t>
                      </a:r>
                      <a:r>
                        <a:rPr lang="en-GB" sz="1400" noProof="0" dirty="0"/>
                        <a:t>continuous/categorical variables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010794"/>
                  </a:ext>
                </a:extLst>
              </a:tr>
              <a:tr h="553508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Traditional statistics require pre-defined assumptions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594553"/>
                  </a:ext>
                </a:extLst>
              </a:tr>
              <a:tr h="553508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Scale too large to handle manually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416514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8CE1C9A4-54CE-16D3-9B3E-CDE14E191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8" y="339725"/>
            <a:ext cx="8632825" cy="857250"/>
          </a:xfrm>
        </p:spPr>
        <p:txBody>
          <a:bodyPr/>
          <a:lstStyle/>
          <a:p>
            <a:r>
              <a:rPr lang="en-GB" dirty="0"/>
              <a:t>Main C</a:t>
            </a:r>
            <a:r>
              <a:rPr lang="en-GB" noProof="0" dirty="0" err="1"/>
              <a:t>hallenges</a:t>
            </a:r>
            <a:r>
              <a:rPr lang="en-GB" noProof="0" dirty="0"/>
              <a:t> with SATSA Dataset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188D85-5CE0-73E4-D378-8A536ECED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7" y="950652"/>
            <a:ext cx="8631243" cy="492646"/>
          </a:xfrm>
        </p:spPr>
        <p:txBody>
          <a:bodyPr/>
          <a:lstStyle/>
          <a:p>
            <a:pPr marL="0" indent="0">
              <a:buNone/>
            </a:pPr>
            <a:r>
              <a:rPr lang="en-GB" sz="1600" noProof="0" dirty="0"/>
              <a:t>SATSA offers a valuable opportunity to discover contributions to aging, however:</a:t>
            </a:r>
          </a:p>
          <a:p>
            <a:endParaRPr lang="en-GB" sz="1600" noProof="0" dirty="0"/>
          </a:p>
        </p:txBody>
      </p:sp>
      <p:pic>
        <p:nvPicPr>
          <p:cNvPr id="11" name="Bild 10" descr="Spela upp kontur">
            <a:extLst>
              <a:ext uri="{FF2B5EF4-FFF2-40B4-BE49-F238E27FC236}">
                <a16:creationId xmlns:a16="http://schemas.microsoft.com/office/drawing/2014/main" id="{D65ED3F0-5EC0-1175-2C5C-337516D42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396" y="1443298"/>
            <a:ext cx="457200" cy="457200"/>
          </a:xfrm>
          <a:prstGeom prst="rect">
            <a:avLst/>
          </a:prstGeom>
        </p:spPr>
      </p:pic>
      <p:pic>
        <p:nvPicPr>
          <p:cNvPr id="12" name="Bild 11" descr="Spela upp kontur">
            <a:extLst>
              <a:ext uri="{FF2B5EF4-FFF2-40B4-BE49-F238E27FC236}">
                <a16:creationId xmlns:a16="http://schemas.microsoft.com/office/drawing/2014/main" id="{CF64CB19-1F66-A254-146A-987069ED3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396" y="1993208"/>
            <a:ext cx="457200" cy="457200"/>
          </a:xfrm>
          <a:prstGeom prst="rect">
            <a:avLst/>
          </a:prstGeom>
        </p:spPr>
      </p:pic>
      <p:pic>
        <p:nvPicPr>
          <p:cNvPr id="13" name="Bild 12" descr="Spela upp kontur">
            <a:extLst>
              <a:ext uri="{FF2B5EF4-FFF2-40B4-BE49-F238E27FC236}">
                <a16:creationId xmlns:a16="http://schemas.microsoft.com/office/drawing/2014/main" id="{6C03D7DB-5439-890E-4050-826E3CA24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396" y="2543118"/>
            <a:ext cx="457200" cy="457200"/>
          </a:xfrm>
          <a:prstGeom prst="rect">
            <a:avLst/>
          </a:prstGeom>
        </p:spPr>
      </p:pic>
      <p:pic>
        <p:nvPicPr>
          <p:cNvPr id="14" name="Bild 13" descr="Spela upp kontur">
            <a:extLst>
              <a:ext uri="{FF2B5EF4-FFF2-40B4-BE49-F238E27FC236}">
                <a16:creationId xmlns:a16="http://schemas.microsoft.com/office/drawing/2014/main" id="{4148DE8F-D3EE-5FDC-DB68-6F413CBBD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396" y="3093028"/>
            <a:ext cx="457200" cy="457200"/>
          </a:xfrm>
          <a:prstGeom prst="rect">
            <a:avLst/>
          </a:prstGeom>
        </p:spPr>
      </p:pic>
      <p:pic>
        <p:nvPicPr>
          <p:cNvPr id="15" name="Bild 14" descr="Spela upp kontur">
            <a:extLst>
              <a:ext uri="{FF2B5EF4-FFF2-40B4-BE49-F238E27FC236}">
                <a16:creationId xmlns:a16="http://schemas.microsoft.com/office/drawing/2014/main" id="{0A8E5342-393A-6950-0D5E-5B9798EB5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396" y="3642938"/>
            <a:ext cx="457200" cy="457200"/>
          </a:xfrm>
          <a:prstGeom prst="rect">
            <a:avLst/>
          </a:prstGeom>
        </p:spPr>
      </p:pic>
      <p:pic>
        <p:nvPicPr>
          <p:cNvPr id="16" name="Bild 15" descr="Spela upp kontur">
            <a:extLst>
              <a:ext uri="{FF2B5EF4-FFF2-40B4-BE49-F238E27FC236}">
                <a16:creationId xmlns:a16="http://schemas.microsoft.com/office/drawing/2014/main" id="{144FAAC7-B776-6ED7-B630-DFBC101B9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396" y="4192848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0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C32E3CA-DEB5-6C56-1D73-4DBB4ED9E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S</a:t>
            </a:r>
            <a:r>
              <a:rPr lang="en-GB" noProof="0" dirty="0" err="1"/>
              <a:t>upervised</a:t>
            </a:r>
            <a:r>
              <a:rPr lang="en-GB" noProof="0" dirty="0"/>
              <a:t> Machine Learning</a:t>
            </a:r>
            <a:endParaRPr lang="en-GB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64C6241-6796-FE58-9529-C97204874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26FE6CEA-96CA-41EB-05D2-B72DE6EE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30/11/2025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BD4AEA2-8B64-8D5B-A563-BCCF01EA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8</a:t>
            </a:fld>
            <a:endParaRPr lang="sv-SE"/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D51B7B28-49E7-9C8B-95D8-EE048EB58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405695"/>
              </p:ext>
            </p:extLst>
          </p:nvPr>
        </p:nvGraphicFramePr>
        <p:xfrm>
          <a:off x="347662" y="987425"/>
          <a:ext cx="8258176" cy="3736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734">
                  <a:extLst>
                    <a:ext uri="{9D8B030D-6E8A-4147-A177-3AD203B41FA5}">
                      <a16:colId xmlns:a16="http://schemas.microsoft.com/office/drawing/2014/main" val="4061688916"/>
                    </a:ext>
                  </a:extLst>
                </a:gridCol>
                <a:gridCol w="7687442">
                  <a:extLst>
                    <a:ext uri="{9D8B030D-6E8A-4147-A177-3AD203B41FA5}">
                      <a16:colId xmlns:a16="http://schemas.microsoft.com/office/drawing/2014/main" val="3475714110"/>
                    </a:ext>
                  </a:extLst>
                </a:gridCol>
              </a:tblGrid>
              <a:tr h="622829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noProof="0" dirty="0">
                          <a:solidFill>
                            <a:schemeClr val="tx1"/>
                          </a:solidFill>
                        </a:rPr>
                        <a:t>Algorithms that can </a:t>
                      </a:r>
                      <a:r>
                        <a:rPr lang="en-GB" sz="1400" b="1" noProof="0" dirty="0">
                          <a:solidFill>
                            <a:schemeClr val="tx1"/>
                          </a:solidFill>
                        </a:rPr>
                        <a:t>make predictions or decisions</a:t>
                      </a:r>
                      <a:r>
                        <a:rPr lang="en-GB" sz="1400" b="0" noProof="0" dirty="0">
                          <a:solidFill>
                            <a:schemeClr val="tx1"/>
                          </a:solidFill>
                        </a:rPr>
                        <a:t> without being </a:t>
                      </a:r>
                      <a:r>
                        <a:rPr lang="en-GB" sz="1400" b="1" noProof="0" dirty="0">
                          <a:solidFill>
                            <a:schemeClr val="tx1"/>
                          </a:solidFill>
                        </a:rPr>
                        <a:t>explicitly programmed </a:t>
                      </a:r>
                      <a:r>
                        <a:rPr lang="en-GB" sz="1400" b="0" noProof="0" dirty="0">
                          <a:solidFill>
                            <a:schemeClr val="tx1"/>
                          </a:solidFill>
                        </a:rPr>
                        <a:t>for every scenario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537592"/>
                  </a:ext>
                </a:extLst>
              </a:tr>
              <a:tr h="622829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noProof="0" dirty="0">
                          <a:ea typeface="+mn-lt"/>
                          <a:cs typeface="+mn-lt"/>
                        </a:rPr>
                        <a:t>Automatically discovers patterns in complex data</a:t>
                      </a:r>
                      <a:r>
                        <a:rPr lang="en-GB" sz="1400" noProof="0" dirty="0">
                          <a:ea typeface="+mn-lt"/>
                          <a:cs typeface="+mn-lt"/>
                        </a:rPr>
                        <a:t>, c</a:t>
                      </a:r>
                      <a:r>
                        <a:rPr lang="en-GB" sz="1400" noProof="0" dirty="0"/>
                        <a:t>omparing attributes of different classes: survived/deceased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059995"/>
                  </a:ext>
                </a:extLst>
              </a:tr>
              <a:tr h="622829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>
                          <a:ea typeface="+mn-lt"/>
                          <a:cs typeface="+mn-lt"/>
                        </a:rPr>
                        <a:t>Can handle </a:t>
                      </a:r>
                      <a:r>
                        <a:rPr lang="en-GB" sz="1400" b="1" noProof="0" dirty="0">
                          <a:ea typeface="+mn-lt"/>
                          <a:cs typeface="+mn-lt"/>
                        </a:rPr>
                        <a:t>high-dimensiona</a:t>
                      </a:r>
                      <a:r>
                        <a:rPr lang="en-GB" sz="1400" noProof="0" dirty="0">
                          <a:ea typeface="+mn-lt"/>
                          <a:cs typeface="+mn-lt"/>
                        </a:rPr>
                        <a:t>l datasets</a:t>
                      </a:r>
                      <a:endParaRPr lang="en-GB" sz="1400" noProof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510762"/>
                  </a:ext>
                </a:extLst>
              </a:tr>
              <a:tr h="622829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>
                          <a:ea typeface="+mn-lt"/>
                          <a:cs typeface="+mn-lt"/>
                        </a:rPr>
                        <a:t>Identify </a:t>
                      </a:r>
                      <a:r>
                        <a:rPr lang="en-GB" sz="1400" b="1" noProof="0" dirty="0">
                          <a:ea typeface="+mn-lt"/>
                          <a:cs typeface="+mn-lt"/>
                        </a:rPr>
                        <a:t>subtle interactions </a:t>
                      </a:r>
                      <a:r>
                        <a:rPr lang="en-GB" sz="1400" noProof="0" dirty="0">
                          <a:ea typeface="+mn-lt"/>
                          <a:cs typeface="+mn-lt"/>
                        </a:rPr>
                        <a:t>between variables</a:t>
                      </a:r>
                      <a:endParaRPr lang="en-GB" sz="1400" noProof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010794"/>
                  </a:ext>
                </a:extLst>
              </a:tr>
              <a:tr h="622829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>
                          <a:ea typeface="+mn-lt"/>
                          <a:cs typeface="+mn-lt"/>
                        </a:rPr>
                        <a:t>Prioritises the </a:t>
                      </a:r>
                      <a:r>
                        <a:rPr lang="en-GB" sz="1400" b="1" noProof="0" dirty="0">
                          <a:ea typeface="+mn-lt"/>
                          <a:cs typeface="+mn-lt"/>
                        </a:rPr>
                        <a:t>most important factors</a:t>
                      </a:r>
                      <a:endParaRPr lang="en-GB" sz="1400" b="1" noProof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594553"/>
                  </a:ext>
                </a:extLst>
              </a:tr>
              <a:tr h="622829">
                <a:tc>
                  <a:txBody>
                    <a:bodyPr/>
                    <a:lstStyle/>
                    <a:p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>
                          <a:ea typeface="+mn-lt"/>
                          <a:cs typeface="+mn-lt"/>
                        </a:rPr>
                        <a:t>Learns which </a:t>
                      </a:r>
                      <a:r>
                        <a:rPr lang="en-GB" sz="1400" b="1" noProof="0" dirty="0">
                          <a:ea typeface="+mn-lt"/>
                          <a:cs typeface="+mn-lt"/>
                        </a:rPr>
                        <a:t>combinations of factors </a:t>
                      </a:r>
                      <a:r>
                        <a:rPr lang="en-GB" sz="1400" noProof="0" dirty="0">
                          <a:ea typeface="+mn-lt"/>
                          <a:cs typeface="+mn-lt"/>
                        </a:rPr>
                        <a:t>are linked to longer or shorter lifespan</a:t>
                      </a:r>
                      <a:endParaRPr lang="en-GB" sz="1400" noProof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416514"/>
                  </a:ext>
                </a:extLst>
              </a:tr>
            </a:tbl>
          </a:graphicData>
        </a:graphic>
      </p:graphicFrame>
      <p:pic>
        <p:nvPicPr>
          <p:cNvPr id="9" name="Bild 8" descr="Vägskyltar med hel fyllning">
            <a:extLst>
              <a:ext uri="{FF2B5EF4-FFF2-40B4-BE49-F238E27FC236}">
                <a16:creationId xmlns:a16="http://schemas.microsoft.com/office/drawing/2014/main" id="{2D7AEA50-3DED-2B3F-8EA2-7237C46A5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810" y="1033462"/>
            <a:ext cx="534987" cy="534987"/>
          </a:xfrm>
          <a:prstGeom prst="rect">
            <a:avLst/>
          </a:prstGeom>
        </p:spPr>
      </p:pic>
      <p:pic>
        <p:nvPicPr>
          <p:cNvPr id="10" name="Bild 9" descr="Spridningsdiagram kontur">
            <a:extLst>
              <a:ext uri="{FF2B5EF4-FFF2-40B4-BE49-F238E27FC236}">
                <a16:creationId xmlns:a16="http://schemas.microsoft.com/office/drawing/2014/main" id="{0D836AD0-F504-1676-A589-0D98EB685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8041" y="1647835"/>
            <a:ext cx="534987" cy="534987"/>
          </a:xfrm>
          <a:prstGeom prst="rect">
            <a:avLst/>
          </a:prstGeom>
        </p:spPr>
      </p:pic>
      <p:pic>
        <p:nvPicPr>
          <p:cNvPr id="11" name="Bild 10" descr="Kub kontur">
            <a:extLst>
              <a:ext uri="{FF2B5EF4-FFF2-40B4-BE49-F238E27FC236}">
                <a16:creationId xmlns:a16="http://schemas.microsoft.com/office/drawing/2014/main" id="{3DA67218-8A33-B8F7-9998-CF8E7D6ED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3276" y="2276491"/>
            <a:ext cx="534987" cy="534987"/>
          </a:xfrm>
          <a:prstGeom prst="rect">
            <a:avLst/>
          </a:prstGeom>
        </p:spPr>
      </p:pic>
      <p:pic>
        <p:nvPicPr>
          <p:cNvPr id="12" name="Bild 11" descr="Överföring kontur">
            <a:extLst>
              <a:ext uri="{FF2B5EF4-FFF2-40B4-BE49-F238E27FC236}">
                <a16:creationId xmlns:a16="http://schemas.microsoft.com/office/drawing/2014/main" id="{92E9F908-1C18-C0E0-8466-4EC7510AD8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73275" y="2905147"/>
            <a:ext cx="534987" cy="534987"/>
          </a:xfrm>
          <a:prstGeom prst="rect">
            <a:avLst/>
          </a:prstGeom>
        </p:spPr>
      </p:pic>
      <p:pic>
        <p:nvPicPr>
          <p:cNvPr id="13" name="Bild 12" descr="Kommentar viktig kontur">
            <a:extLst>
              <a:ext uri="{FF2B5EF4-FFF2-40B4-BE49-F238E27FC236}">
                <a16:creationId xmlns:a16="http://schemas.microsoft.com/office/drawing/2014/main" id="{D4FF8022-0FFF-26AB-5ABC-9122F77AE5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73274" y="4165010"/>
            <a:ext cx="534987" cy="534987"/>
          </a:xfrm>
          <a:prstGeom prst="rect">
            <a:avLst/>
          </a:prstGeom>
        </p:spPr>
      </p:pic>
      <p:pic>
        <p:nvPicPr>
          <p:cNvPr id="14" name="Bild 13" descr="Prioritering kontur">
            <a:extLst>
              <a:ext uri="{FF2B5EF4-FFF2-40B4-BE49-F238E27FC236}">
                <a16:creationId xmlns:a16="http://schemas.microsoft.com/office/drawing/2014/main" id="{A5BDCB80-B97B-EE13-3EDB-4AFB65CC806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373274" y="3529042"/>
            <a:ext cx="534987" cy="53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43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39C5552-072D-EE5C-4485-2CB25AECB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A8795D9-FE72-CD2C-58B0-B1522285E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19FD24C-EC64-DB75-6005-DB73B0BF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30/11/2025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2935039-A235-8BD2-1A5C-D8134CF7B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9</a:t>
            </a:fld>
            <a:endParaRPr lang="sv-SE"/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D913BD1B-516D-A316-8F42-5D8A03A18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153767"/>
              </p:ext>
            </p:extLst>
          </p:nvPr>
        </p:nvGraphicFramePr>
        <p:xfrm>
          <a:off x="334844" y="836387"/>
          <a:ext cx="8474298" cy="3892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828">
                  <a:extLst>
                    <a:ext uri="{9D8B030D-6E8A-4147-A177-3AD203B41FA5}">
                      <a16:colId xmlns:a16="http://schemas.microsoft.com/office/drawing/2014/main" val="4139294312"/>
                    </a:ext>
                  </a:extLst>
                </a:gridCol>
                <a:gridCol w="1943291">
                  <a:extLst>
                    <a:ext uri="{9D8B030D-6E8A-4147-A177-3AD203B41FA5}">
                      <a16:colId xmlns:a16="http://schemas.microsoft.com/office/drawing/2014/main" val="1903130465"/>
                    </a:ext>
                  </a:extLst>
                </a:gridCol>
                <a:gridCol w="5570179">
                  <a:extLst>
                    <a:ext uri="{9D8B030D-6E8A-4147-A177-3AD203B41FA5}">
                      <a16:colId xmlns:a16="http://schemas.microsoft.com/office/drawing/2014/main" val="3122980045"/>
                    </a:ext>
                  </a:extLst>
                </a:gridCol>
              </a:tblGrid>
              <a:tr h="3430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Step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2301874"/>
                  </a:ext>
                </a:extLst>
              </a:tr>
              <a:tr h="42877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Created a </a:t>
                      </a:r>
                      <a:r>
                        <a:rPr lang="en-GB" sz="1200" b="1" noProof="0" dirty="0" err="1"/>
                        <a:t>labeled</a:t>
                      </a:r>
                      <a:r>
                        <a:rPr lang="en-GB" sz="1200" b="1" noProof="0" dirty="0"/>
                        <a:t> dataset from SATSA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/>
                        <a:t>Tracked survival status at 10/20 years after IPT1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 err="1"/>
                        <a:t>Labeled</a:t>
                      </a:r>
                      <a:r>
                        <a:rPr lang="en-GB" sz="1200" noProof="0" dirty="0"/>
                        <a:t> each participant: survived(0)/deceased(1)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577227"/>
                  </a:ext>
                </a:extLst>
              </a:tr>
              <a:tr h="42877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Transformed missing data into insights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/>
                        <a:t>Missing tests may signal health status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/>
                        <a:t>Binary indicator variables introduced (missing/not missing)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900340"/>
                  </a:ext>
                </a:extLst>
              </a:tr>
              <a:tr h="600278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No synthetical imputation of missing values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/>
                        <a:t>Common practice to impute, sensitivity analysis needed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/>
                        <a:t>All results are grounded in actual observations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222681"/>
                  </a:ext>
                </a:extLst>
              </a:tr>
              <a:tr h="343016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Standardised variables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Converted </a:t>
                      </a:r>
                      <a:r>
                        <a:rPr lang="sv-SE" sz="1200" dirty="0" err="1"/>
                        <a:t>continous</a:t>
                      </a:r>
                      <a:r>
                        <a:rPr lang="en-GB" sz="1200" dirty="0"/>
                        <a:t> values to range between 0 and 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Categorical variables encoded with one-hot encoding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655608"/>
                  </a:ext>
                </a:extLst>
              </a:tr>
              <a:tr h="600278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Applied machine learning models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/>
                        <a:t>Used tree-based models that can handle missing data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/>
                        <a:t>Combined multiple models for better predictions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97929"/>
                  </a:ext>
                </a:extLst>
              </a:tr>
              <a:tr h="430726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Trained the models on the data using Tensor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/>
                        <a:t>Computationally expensive, cannot be done on a laptop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/>
                        <a:t>Using 96 cores, Tensor required 10-45 minutes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259837"/>
                  </a:ext>
                </a:extLst>
              </a:tr>
              <a:tr h="428770"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Interpreted results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/>
                        <a:t>Performance metrics used: AUC, accuracy, F1 score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noProof="0" dirty="0"/>
                        <a:t>Quantified importance of each variable using the framework SHAP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0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208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7C8DC-CA93-AEBA-8C56-8C45CA64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Flowchart of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E672E0-829A-77BF-8FFA-0C01A1AC9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Karolinska </a:t>
            </a:r>
            <a:r>
              <a:rPr lang="en-GB" noProof="0" err="1"/>
              <a:t>Institutet</a:t>
            </a:r>
            <a:r>
              <a:rPr lang="en-GB" noProof="0"/>
              <a:t>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CAEB5-AB31-09A3-5D1E-474DE6B5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noProof="0" smtClean="0"/>
              <a:t>30/11/2025</a:t>
            </a:fld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4114B-8E6A-A338-5B36-4D7AA588B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en-GB" noProof="0" smtClean="0"/>
              <a:pPr/>
              <a:t>10</a:t>
            </a:fld>
            <a:endParaRPr lang="en-GB" noProof="0"/>
          </a:p>
        </p:txBody>
      </p:sp>
      <p:pic>
        <p:nvPicPr>
          <p:cNvPr id="16" name="Content Placeholder 15" descr="A close-up of several signs&#10;&#10;Description automatically generated">
            <a:extLst>
              <a:ext uri="{FF2B5EF4-FFF2-40B4-BE49-F238E27FC236}">
                <a16:creationId xmlns:a16="http://schemas.microsoft.com/office/drawing/2014/main" id="{DB6FEDB2-607C-71E7-6A4B-0204D81CD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175" y="1712916"/>
            <a:ext cx="8631238" cy="2570155"/>
          </a:xfrm>
        </p:spPr>
      </p:pic>
    </p:spTree>
    <p:extLst>
      <p:ext uri="{BB962C8B-B14F-4D97-AF65-F5344CB8AC3E}">
        <p14:creationId xmlns:p14="http://schemas.microsoft.com/office/powerpoint/2010/main" val="2303113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59189-53C2-2A13-96AF-6700578B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71" y="339502"/>
            <a:ext cx="8632045" cy="857250"/>
          </a:xfrm>
        </p:spPr>
        <p:txBody>
          <a:bodyPr wrap="square" anchor="t">
            <a:normAutofit/>
          </a:bodyPr>
          <a:lstStyle/>
          <a:p>
            <a:r>
              <a:rPr lang="en-GB" noProof="0"/>
              <a:t>Random Forest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31AE2-F3B5-B97D-FF87-C7098337815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56774" y="1202799"/>
            <a:ext cx="4315226" cy="3190191"/>
          </a:xfrm>
        </p:spPr>
        <p:txBody>
          <a:bodyPr wrap="square" anchor="ctr">
            <a:normAutofit/>
          </a:bodyPr>
          <a:lstStyle/>
          <a:p>
            <a:r>
              <a:rPr lang="en-GB" sz="1600" b="1" noProof="0" dirty="0"/>
              <a:t>Combines </a:t>
            </a:r>
            <a:r>
              <a:rPr lang="en-GB" sz="1600" b="1"/>
              <a:t>many</a:t>
            </a:r>
            <a:r>
              <a:rPr lang="en-GB" sz="1600" b="1" noProof="0"/>
              <a:t> </a:t>
            </a:r>
            <a:r>
              <a:rPr lang="en-GB" sz="1600" b="1" noProof="0" dirty="0"/>
              <a:t>decision trees</a:t>
            </a:r>
          </a:p>
          <a:p>
            <a:pPr lvl="1"/>
            <a:r>
              <a:rPr lang="en-GB" sz="1400" noProof="0" dirty="0"/>
              <a:t>Each tree learns from different health measurements</a:t>
            </a:r>
          </a:p>
          <a:p>
            <a:pPr lvl="1"/>
            <a:r>
              <a:rPr lang="en-GB" sz="1400" noProof="0" dirty="0"/>
              <a:t>Trees vote on mortality probability</a:t>
            </a:r>
          </a:p>
          <a:p>
            <a:pPr lvl="1"/>
            <a:r>
              <a:rPr lang="en-GB" sz="1400" noProof="0" dirty="0"/>
              <a:t>Final prediction based on </a:t>
            </a:r>
            <a:r>
              <a:rPr lang="en-GB" sz="1400" dirty="0"/>
              <a:t>fraction of positive outcomes</a:t>
            </a:r>
            <a:endParaRPr lang="en-GB" sz="1400" noProof="0" dirty="0"/>
          </a:p>
          <a:p>
            <a:r>
              <a:rPr lang="en-GB" sz="1600" b="1" noProof="0" dirty="0"/>
              <a:t>Great performance</a:t>
            </a:r>
          </a:p>
          <a:p>
            <a:pPr lvl="1"/>
            <a:r>
              <a:rPr lang="en-GB" sz="1400" noProof="0" dirty="0"/>
              <a:t>Handles missing data natively</a:t>
            </a:r>
          </a:p>
          <a:p>
            <a:pPr lvl="1"/>
            <a:r>
              <a:rPr lang="en-GB" sz="1400" noProof="0" dirty="0"/>
              <a:t>Can capture complex, non-linear relations</a:t>
            </a:r>
          </a:p>
          <a:p>
            <a:pPr lvl="1"/>
            <a:r>
              <a:rPr lang="en-GB" sz="1400" noProof="0" dirty="0"/>
              <a:t>Robust to outliers</a:t>
            </a:r>
          </a:p>
          <a:p>
            <a:pPr lvl="1"/>
            <a:r>
              <a:rPr lang="en-GB" sz="1400" dirty="0"/>
              <a:t>Robust to overfitting</a:t>
            </a:r>
            <a:endParaRPr lang="en-GB" sz="1400" noProof="0" dirty="0"/>
          </a:p>
        </p:txBody>
      </p:sp>
      <p:pic>
        <p:nvPicPr>
          <p:cNvPr id="7" name="Picture 6" descr="A diagram of a tree&#10;&#10;AI-generated content may be incorrect.">
            <a:extLst>
              <a:ext uri="{FF2B5EF4-FFF2-40B4-BE49-F238E27FC236}">
                <a16:creationId xmlns:a16="http://schemas.microsoft.com/office/drawing/2014/main" id="{BCC46FA7-1C07-248F-159C-7976DDBAD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200" y="1625071"/>
            <a:ext cx="4170040" cy="2345647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AFC77-A0E3-756C-A77C-05F3B5D24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500" noProof="0"/>
              <a:t>Karolinska </a:t>
            </a:r>
            <a:r>
              <a:rPr lang="en-GB" sz="500" noProof="0" err="1"/>
              <a:t>Institutet</a:t>
            </a:r>
            <a:r>
              <a:rPr lang="en-GB" sz="500" noProof="0"/>
              <a:t>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31E94-4097-7D15-09EB-05101BE7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30/11/2025</a:t>
            </a:fld>
            <a:endParaRPr lang="en-GB" sz="5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85BAE-F8B4-D163-94FD-3ED777DB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GB" sz="500" noProof="0"/>
          </a:p>
        </p:txBody>
      </p:sp>
    </p:spTree>
    <p:extLst>
      <p:ext uri="{BB962C8B-B14F-4D97-AF65-F5344CB8AC3E}">
        <p14:creationId xmlns:p14="http://schemas.microsoft.com/office/powerpoint/2010/main" val="3619501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D125F-4B45-6891-364D-27F81DE1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71" y="339502"/>
            <a:ext cx="8632045" cy="857250"/>
          </a:xfrm>
        </p:spPr>
        <p:txBody>
          <a:bodyPr wrap="square" anchor="t">
            <a:normAutofit/>
          </a:bodyPr>
          <a:lstStyle/>
          <a:p>
            <a:r>
              <a:rPr lang="en-GB" noProof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DBEEE-296C-CFF0-F72F-C07453F4FA8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56774" y="1146366"/>
            <a:ext cx="4315226" cy="3352801"/>
          </a:xfrm>
        </p:spPr>
        <p:txBody>
          <a:bodyPr wrap="square" anchor="ctr">
            <a:normAutofit/>
          </a:bodyPr>
          <a:lstStyle/>
          <a:p>
            <a:r>
              <a:rPr lang="en-GB" sz="1600" b="1" noProof="0" dirty="0"/>
              <a:t>20-year prediction</a:t>
            </a:r>
          </a:p>
          <a:p>
            <a:pPr lvl="1"/>
            <a:r>
              <a:rPr lang="en-GB" sz="1400" noProof="0" dirty="0"/>
              <a:t>Balanced dataset</a:t>
            </a:r>
          </a:p>
          <a:p>
            <a:pPr lvl="2"/>
            <a:r>
              <a:rPr lang="en-GB" noProof="0" dirty="0"/>
              <a:t>56% deceased, 44% survived</a:t>
            </a:r>
          </a:p>
          <a:p>
            <a:pPr lvl="1"/>
            <a:r>
              <a:rPr lang="en-GB" sz="1400" noProof="0" dirty="0"/>
              <a:t>Accuracy: 0.81, AUC: 0.87</a:t>
            </a:r>
          </a:p>
          <a:p>
            <a:r>
              <a:rPr lang="en-GB" sz="1600" b="1" noProof="0" dirty="0"/>
              <a:t>10-year prediction</a:t>
            </a:r>
          </a:p>
          <a:p>
            <a:pPr lvl="1"/>
            <a:r>
              <a:rPr lang="en-GB" sz="1400" noProof="0" dirty="0"/>
              <a:t>Unbalanced dataset</a:t>
            </a:r>
          </a:p>
          <a:p>
            <a:pPr lvl="2"/>
            <a:r>
              <a:rPr lang="en-GB" noProof="0" dirty="0"/>
              <a:t>27% deceased, 73% survived</a:t>
            </a:r>
          </a:p>
          <a:p>
            <a:pPr lvl="1"/>
            <a:r>
              <a:rPr lang="en-GB" sz="1400" noProof="0" dirty="0"/>
              <a:t>Accuracy: 0.73, AUC: 0,79</a:t>
            </a:r>
          </a:p>
          <a:p>
            <a:r>
              <a:rPr lang="en-GB" sz="1600" b="1" noProof="0" dirty="0"/>
              <a:t>Geometric mean and class weights used to balance data</a:t>
            </a:r>
          </a:p>
          <a:p>
            <a:pPr lvl="1"/>
            <a:r>
              <a:rPr lang="en-GB" sz="1400" noProof="0" dirty="0"/>
              <a:t>No synthetic data used</a:t>
            </a:r>
            <a:endParaRPr lang="en-GB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2DD7E0-35DD-CE5F-3BA1-C1399A1B6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025" y="1228572"/>
            <a:ext cx="3188389" cy="3188389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B8BAA-DA35-9921-D5B6-1021DC74C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500" noProof="0"/>
              <a:t>Karolinska </a:t>
            </a:r>
            <a:r>
              <a:rPr lang="en-GB" sz="500" noProof="0" err="1"/>
              <a:t>Institutet</a:t>
            </a:r>
            <a:r>
              <a:rPr lang="en-GB" sz="500" noProof="0"/>
              <a:t>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F3E28-C313-D7F0-D9D6-DC56B37524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30/11/2025</a:t>
            </a:fld>
            <a:endParaRPr lang="en-GB" sz="5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EBD3B-35EE-4C2A-D390-EFB2B643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GB" sz="500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015F19-D142-BC40-C592-182177C7B905}"/>
              </a:ext>
            </a:extLst>
          </p:cNvPr>
          <p:cNvSpPr txBox="1"/>
          <p:nvPr/>
        </p:nvSpPr>
        <p:spPr>
          <a:xfrm>
            <a:off x="5575777" y="4547643"/>
            <a:ext cx="2724070" cy="430887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100" noProof="0">
                <a:latin typeface="+mn-lt"/>
              </a:rPr>
              <a:t>ROC and AUC for a 20-year prediction, using a Random Forest</a:t>
            </a:r>
          </a:p>
        </p:txBody>
      </p:sp>
    </p:spTree>
    <p:extLst>
      <p:ext uri="{BB962C8B-B14F-4D97-AF65-F5344CB8AC3E}">
        <p14:creationId xmlns:p14="http://schemas.microsoft.com/office/powerpoint/2010/main" val="4246611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9DD9-3FFD-5ECD-BE63-08E3999F6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71" y="339502"/>
            <a:ext cx="8632045" cy="857250"/>
          </a:xfrm>
        </p:spPr>
        <p:txBody>
          <a:bodyPr wrap="square" anchor="t">
            <a:normAutofit/>
          </a:bodyPr>
          <a:lstStyle/>
          <a:p>
            <a:r>
              <a:rPr lang="en-GB" noProof="0"/>
              <a:t>Key </a:t>
            </a:r>
            <a:r>
              <a:rPr lang="en-GB"/>
              <a:t>Variables</a:t>
            </a:r>
            <a:r>
              <a:rPr lang="en-GB" noProof="0"/>
              <a:t> 20-year Mortality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8BA1B-07D3-A439-CAB1-4C30BD4DBBE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56774" y="1196753"/>
            <a:ext cx="4170039" cy="3607246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500" b="1" noProof="0" dirty="0"/>
              <a:t>Cognitive performance</a:t>
            </a:r>
          </a:p>
          <a:p>
            <a:pPr lvl="1">
              <a:lnSpc>
                <a:spcPct val="90000"/>
              </a:lnSpc>
            </a:pPr>
            <a:r>
              <a:rPr lang="en-GB" sz="1500" noProof="0" dirty="0"/>
              <a:t>Perceptual speed, </a:t>
            </a:r>
            <a:r>
              <a:rPr lang="en-GB" sz="1500" b="1" dirty="0"/>
              <a:t>a</a:t>
            </a:r>
            <a:r>
              <a:rPr lang="en-GB" sz="1500" b="1" noProof="0" dirty="0" err="1"/>
              <a:t>symb</a:t>
            </a:r>
            <a:r>
              <a:rPr lang="en-GB" sz="1500" noProof="0" dirty="0"/>
              <a:t> &amp; </a:t>
            </a:r>
            <a:r>
              <a:rPr lang="en-GB" sz="1500" b="1" noProof="0" dirty="0" err="1"/>
              <a:t>bsymb</a:t>
            </a:r>
            <a:endParaRPr lang="en-GB" sz="1500" b="1" noProof="0" dirty="0"/>
          </a:p>
          <a:p>
            <a:pPr>
              <a:lnSpc>
                <a:spcPct val="90000"/>
              </a:lnSpc>
            </a:pPr>
            <a:r>
              <a:rPr lang="en-GB" sz="1500" b="1" noProof="0" dirty="0"/>
              <a:t>Triglyceride levels</a:t>
            </a:r>
            <a:endParaRPr lang="en-GB" sz="1500" b="1" dirty="0"/>
          </a:p>
          <a:p>
            <a:pPr lvl="1">
              <a:lnSpc>
                <a:spcPct val="90000"/>
              </a:lnSpc>
            </a:pPr>
            <a:r>
              <a:rPr lang="en-GB" sz="1500" b="1" noProof="0" dirty="0"/>
              <a:t>Tg1</a:t>
            </a:r>
          </a:p>
          <a:p>
            <a:pPr lvl="1">
              <a:lnSpc>
                <a:spcPct val="90000"/>
              </a:lnSpc>
            </a:pPr>
            <a:r>
              <a:rPr lang="en-GB" sz="1500" dirty="0"/>
              <a:t>From excess calories</a:t>
            </a:r>
          </a:p>
          <a:p>
            <a:pPr lvl="1">
              <a:lnSpc>
                <a:spcPct val="90000"/>
              </a:lnSpc>
            </a:pPr>
            <a:r>
              <a:rPr lang="en-GB" sz="1500" noProof="0" dirty="0"/>
              <a:t>Elevates risk for diabetes, strokes</a:t>
            </a:r>
          </a:p>
          <a:p>
            <a:pPr>
              <a:lnSpc>
                <a:spcPct val="90000"/>
              </a:lnSpc>
            </a:pPr>
            <a:r>
              <a:rPr lang="en-GB" sz="1500" b="1" dirty="0"/>
              <a:t>Respiratory functionality</a:t>
            </a:r>
            <a:endParaRPr lang="en-GB" sz="1500" b="1" noProof="0" dirty="0"/>
          </a:p>
          <a:p>
            <a:pPr lvl="1">
              <a:lnSpc>
                <a:spcPct val="90000"/>
              </a:lnSpc>
            </a:pPr>
            <a:r>
              <a:rPr lang="en-GB" sz="1500" noProof="0" dirty="0"/>
              <a:t>Forced expiratory volume, </a:t>
            </a:r>
            <a:r>
              <a:rPr lang="en-GB" sz="1500" b="1" noProof="0" dirty="0"/>
              <a:t>fv1</a:t>
            </a:r>
          </a:p>
          <a:p>
            <a:pPr lvl="1">
              <a:lnSpc>
                <a:spcPct val="90000"/>
              </a:lnSpc>
            </a:pPr>
            <a:r>
              <a:rPr lang="en-GB" sz="1500" noProof="0" dirty="0"/>
              <a:t>Forced vital capacity, </a:t>
            </a:r>
            <a:r>
              <a:rPr lang="en-GB" sz="1500" b="1" noProof="0" dirty="0" err="1"/>
              <a:t>fvc</a:t>
            </a:r>
            <a:endParaRPr lang="en-GB" sz="1500" b="1" noProof="0" dirty="0"/>
          </a:p>
          <a:p>
            <a:pPr lvl="1">
              <a:lnSpc>
                <a:spcPct val="90000"/>
              </a:lnSpc>
            </a:pPr>
            <a:r>
              <a:rPr lang="en-GB" sz="1500" noProof="0" dirty="0"/>
              <a:t>Vital capacity, </a:t>
            </a:r>
            <a:r>
              <a:rPr lang="en-GB" sz="1500" b="1" noProof="0" dirty="0" err="1"/>
              <a:t>vc</a:t>
            </a:r>
            <a:endParaRPr lang="en-GB" sz="1500" b="1" noProof="0" dirty="0"/>
          </a:p>
          <a:p>
            <a:pPr>
              <a:lnSpc>
                <a:spcPct val="90000"/>
              </a:lnSpc>
            </a:pPr>
            <a:r>
              <a:rPr lang="en-GB" sz="1500" b="1" noProof="0" dirty="0"/>
              <a:t>Vision </a:t>
            </a:r>
            <a:r>
              <a:rPr lang="en-GB" sz="1500" b="1" dirty="0"/>
              <a:t>assessments</a:t>
            </a:r>
          </a:p>
          <a:p>
            <a:pPr lvl="1">
              <a:lnSpc>
                <a:spcPct val="90000"/>
              </a:lnSpc>
            </a:pPr>
            <a:r>
              <a:rPr lang="en-GB" sz="1500" b="1" noProof="0" dirty="0" err="1"/>
              <a:t>lsight</a:t>
            </a:r>
            <a:r>
              <a:rPr lang="en-GB" sz="1500" noProof="0" dirty="0"/>
              <a:t> &amp; </a:t>
            </a:r>
            <a:r>
              <a:rPr lang="en-GB" sz="1500" b="1" noProof="0" dirty="0" err="1"/>
              <a:t>rsight</a:t>
            </a:r>
            <a:endParaRPr lang="en-GB" sz="1500" b="1" noProof="0" dirty="0"/>
          </a:p>
          <a:p>
            <a:pPr>
              <a:lnSpc>
                <a:spcPct val="90000"/>
              </a:lnSpc>
            </a:pPr>
            <a:r>
              <a:rPr lang="en-GB" sz="1500" b="1" noProof="0" dirty="0"/>
              <a:t>Blood pressure</a:t>
            </a:r>
            <a:endParaRPr lang="en-GB" sz="1500" b="1" dirty="0"/>
          </a:p>
          <a:p>
            <a:pPr lvl="1">
              <a:lnSpc>
                <a:spcPct val="90000"/>
              </a:lnSpc>
            </a:pPr>
            <a:r>
              <a:rPr lang="en-GB" sz="1500" noProof="0" dirty="0"/>
              <a:t>Systolic, </a:t>
            </a:r>
            <a:r>
              <a:rPr lang="en-GB" sz="1500" b="1" noProof="0" dirty="0" err="1"/>
              <a:t>bpsres</a:t>
            </a:r>
            <a:endParaRPr lang="en-GB" sz="1500" b="1" noProof="0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7E8D4F5D-2B6E-DB80-5906-69A50229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985" y="1404631"/>
            <a:ext cx="3948470" cy="3188389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0DDB0-9E91-F407-43A8-981E6836C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500" noProof="0"/>
              <a:t>Karolinska </a:t>
            </a:r>
            <a:r>
              <a:rPr lang="en-GB" sz="500" noProof="0" err="1"/>
              <a:t>Institutet</a:t>
            </a:r>
            <a:r>
              <a:rPr lang="en-GB" sz="500" noProof="0"/>
              <a:t>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4662C-4D75-5346-0427-A963ECE954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30/11/2025</a:t>
            </a:fld>
            <a:endParaRPr lang="en-GB" sz="5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0DC6C-FB87-17AC-8904-444D3D29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GB" sz="500" noProof="0"/>
          </a:p>
        </p:txBody>
      </p:sp>
    </p:spTree>
    <p:extLst>
      <p:ext uri="{BB962C8B-B14F-4D97-AF65-F5344CB8AC3E}">
        <p14:creationId xmlns:p14="http://schemas.microsoft.com/office/powerpoint/2010/main" val="1610805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0223-E53B-C209-78AF-2F331D5BA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71" y="339502"/>
            <a:ext cx="8632045" cy="857250"/>
          </a:xfrm>
        </p:spPr>
        <p:txBody>
          <a:bodyPr wrap="square" anchor="t">
            <a:normAutofit/>
          </a:bodyPr>
          <a:lstStyle/>
          <a:p>
            <a:r>
              <a:rPr lang="en-GB" noProof="0"/>
              <a:t>Key </a:t>
            </a:r>
            <a:r>
              <a:rPr lang="en-GB"/>
              <a:t>Variables 10-year</a:t>
            </a:r>
            <a:r>
              <a:rPr lang="en-GB" noProof="0"/>
              <a:t> Mortality</a:t>
            </a:r>
            <a:r>
              <a:rPr lang="en-GB"/>
              <a:t> Prediction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FAC76-CD82-F4A8-1E32-78DF090799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56774" y="1196753"/>
            <a:ext cx="4170039" cy="3396268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500" b="1" noProof="0" dirty="0"/>
              <a:t>Focused on cardiovascular measurements</a:t>
            </a:r>
          </a:p>
          <a:p>
            <a:pPr lvl="1">
              <a:lnSpc>
                <a:spcPct val="90000"/>
              </a:lnSpc>
            </a:pPr>
            <a:r>
              <a:rPr lang="en-GB" sz="1500" dirty="0"/>
              <a:t>Thrombocyte</a:t>
            </a:r>
            <a:r>
              <a:rPr lang="en-GB" sz="1500" noProof="0" dirty="0"/>
              <a:t> numbers, </a:t>
            </a:r>
            <a:r>
              <a:rPr lang="en-GB" sz="1500" b="1" noProof="0" dirty="0"/>
              <a:t>tromb1</a:t>
            </a:r>
            <a:r>
              <a:rPr lang="en-GB" sz="1500" noProof="0" dirty="0"/>
              <a:t> &amp; </a:t>
            </a:r>
            <a:r>
              <a:rPr lang="en-GB" sz="1500" b="1" noProof="0" dirty="0"/>
              <a:t>tromb2</a:t>
            </a:r>
          </a:p>
          <a:p>
            <a:pPr lvl="1">
              <a:lnSpc>
                <a:spcPct val="90000"/>
              </a:lnSpc>
            </a:pPr>
            <a:r>
              <a:rPr lang="en-GB" sz="1500" noProof="0" dirty="0"/>
              <a:t>Cholesterol levels, </a:t>
            </a:r>
            <a:r>
              <a:rPr lang="en-GB" sz="1500" b="1" noProof="0" dirty="0"/>
              <a:t>kol1</a:t>
            </a:r>
          </a:p>
          <a:p>
            <a:pPr lvl="1">
              <a:lnSpc>
                <a:spcPct val="90000"/>
              </a:lnSpc>
            </a:pPr>
            <a:r>
              <a:rPr lang="en-GB" sz="1500" noProof="0" dirty="0"/>
              <a:t>Erythrocyte (red blood cells) sedimentation rate, </a:t>
            </a:r>
            <a:r>
              <a:rPr lang="en-GB" sz="1500" b="1" noProof="0" dirty="0" err="1"/>
              <a:t>sedim</a:t>
            </a:r>
            <a:endParaRPr lang="en-GB" sz="1500" b="1" noProof="0" dirty="0"/>
          </a:p>
          <a:p>
            <a:pPr lvl="1">
              <a:lnSpc>
                <a:spcPct val="90000"/>
              </a:lnSpc>
            </a:pPr>
            <a:r>
              <a:rPr lang="en-GB" sz="1500" noProof="0" dirty="0"/>
              <a:t>Apolipoprotein B/A, </a:t>
            </a:r>
            <a:r>
              <a:rPr lang="en-GB" sz="1500" b="1" noProof="0" dirty="0"/>
              <a:t>ratioba1</a:t>
            </a:r>
          </a:p>
          <a:p>
            <a:pPr>
              <a:lnSpc>
                <a:spcPct val="90000"/>
              </a:lnSpc>
            </a:pPr>
            <a:r>
              <a:rPr lang="en-GB" sz="1500" b="1" noProof="0" dirty="0"/>
              <a:t>Functional assessments</a:t>
            </a:r>
          </a:p>
          <a:p>
            <a:pPr lvl="1">
              <a:lnSpc>
                <a:spcPct val="90000"/>
              </a:lnSpc>
            </a:pPr>
            <a:r>
              <a:rPr lang="en-GB" sz="1500" noProof="0" dirty="0"/>
              <a:t>Fine motor skills, </a:t>
            </a:r>
            <a:r>
              <a:rPr lang="en-GB" sz="1500" b="1" noProof="0" dirty="0" err="1"/>
              <a:t>lampti</a:t>
            </a:r>
            <a:endParaRPr lang="en-GB" sz="1500" b="1" noProof="0" dirty="0"/>
          </a:p>
          <a:p>
            <a:pPr lvl="1">
              <a:lnSpc>
                <a:spcPct val="90000"/>
              </a:lnSpc>
            </a:pPr>
            <a:r>
              <a:rPr lang="en-GB" sz="1500" noProof="0" dirty="0"/>
              <a:t>Grip strength, </a:t>
            </a:r>
            <a:r>
              <a:rPr lang="en-GB" sz="1500" b="1" noProof="0" dirty="0"/>
              <a:t>strength</a:t>
            </a:r>
          </a:p>
          <a:p>
            <a:pPr>
              <a:lnSpc>
                <a:spcPct val="90000"/>
              </a:lnSpc>
            </a:pPr>
            <a:r>
              <a:rPr lang="en-GB" sz="1500" b="1" noProof="0" dirty="0"/>
              <a:t>Long-term memory difficulties</a:t>
            </a:r>
            <a:endParaRPr lang="en-GB" sz="1500" b="1" dirty="0"/>
          </a:p>
          <a:p>
            <a:pPr lvl="1">
              <a:lnSpc>
                <a:spcPct val="90000"/>
              </a:lnSpc>
            </a:pPr>
            <a:r>
              <a:rPr lang="en-GB" sz="1500" noProof="0" dirty="0"/>
              <a:t> </a:t>
            </a:r>
            <a:r>
              <a:rPr lang="en-GB" sz="1500" b="1" noProof="0" dirty="0" err="1"/>
              <a:t>lomemo</a:t>
            </a:r>
            <a:endParaRPr lang="en-GB" sz="1500" b="1" noProof="0" dirty="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4DE7F8EE-38B0-C4B8-7F52-9DC3E6B50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985" y="1404631"/>
            <a:ext cx="3948470" cy="3188389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0EC52-A912-1C87-9B32-58B44034F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500" noProof="0"/>
              <a:t>Karolinska </a:t>
            </a:r>
            <a:r>
              <a:rPr lang="en-GB" sz="500" noProof="0" err="1"/>
              <a:t>Institutet</a:t>
            </a:r>
            <a:r>
              <a:rPr lang="en-GB" sz="500" noProof="0"/>
              <a:t>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B842D-8FDD-ACA8-F3FB-101D843A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30/11/2025</a:t>
            </a:fld>
            <a:endParaRPr lang="en-GB" sz="5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B72BE-699F-03AA-48EF-2E83B29D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GB" sz="500" noProof="0"/>
          </a:p>
        </p:txBody>
      </p:sp>
    </p:spTree>
    <p:extLst>
      <p:ext uri="{BB962C8B-B14F-4D97-AF65-F5344CB8AC3E}">
        <p14:creationId xmlns:p14="http://schemas.microsoft.com/office/powerpoint/2010/main" val="3417547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0D1F-2E2C-822F-3B91-D7D4F70D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71" y="339502"/>
            <a:ext cx="8632045" cy="857250"/>
          </a:xfrm>
        </p:spPr>
        <p:txBody>
          <a:bodyPr wrap="square" anchor="t">
            <a:normAutofit/>
          </a:bodyPr>
          <a:lstStyle/>
          <a:p>
            <a:r>
              <a:rPr lang="en-GB" noProof="0"/>
              <a:t>Common Key Predictors 10/20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DC1E-71CE-59B0-37EF-3583799E470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56774" y="1402829"/>
            <a:ext cx="4170039" cy="3190191"/>
          </a:xfrm>
        </p:spPr>
        <p:txBody>
          <a:bodyPr wrap="square" anchor="t"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GB" b="1" noProof="0" dirty="0"/>
              <a:t>Age</a:t>
            </a:r>
            <a:endParaRPr lang="en-GB" b="1" dirty="0"/>
          </a:p>
          <a:p>
            <a:pPr lvl="1">
              <a:lnSpc>
                <a:spcPct val="90000"/>
              </a:lnSpc>
            </a:pPr>
            <a:r>
              <a:rPr lang="en-GB" sz="1800" noProof="0" dirty="0"/>
              <a:t>birthdate1</a:t>
            </a:r>
          </a:p>
          <a:p>
            <a:pPr>
              <a:lnSpc>
                <a:spcPct val="90000"/>
              </a:lnSpc>
            </a:pPr>
            <a:r>
              <a:rPr lang="en-GB" b="1" noProof="0" dirty="0"/>
              <a:t>Ratio apolipoprotein B/A</a:t>
            </a:r>
            <a:endParaRPr lang="en-GB" b="1" dirty="0"/>
          </a:p>
          <a:p>
            <a:pPr lvl="1">
              <a:lnSpc>
                <a:spcPct val="90000"/>
              </a:lnSpc>
            </a:pPr>
            <a:r>
              <a:rPr lang="en-GB" sz="1800" noProof="0" dirty="0"/>
              <a:t>Ratioba1</a:t>
            </a:r>
          </a:p>
          <a:p>
            <a:pPr lvl="1">
              <a:lnSpc>
                <a:spcPct val="90000"/>
              </a:lnSpc>
            </a:pPr>
            <a:r>
              <a:rPr lang="en-GB" sz="1800" dirty="0"/>
              <a:t>Carries cholesterol in the blood </a:t>
            </a:r>
            <a:endParaRPr lang="en-GB" sz="1800" noProof="0" dirty="0"/>
          </a:p>
          <a:p>
            <a:pPr>
              <a:lnSpc>
                <a:spcPct val="90000"/>
              </a:lnSpc>
            </a:pPr>
            <a:r>
              <a:rPr lang="en-GB" b="1" noProof="0" dirty="0"/>
              <a:t>Vision assessments</a:t>
            </a:r>
            <a:endParaRPr lang="en-GB" b="1" dirty="0"/>
          </a:p>
          <a:p>
            <a:pPr lvl="1">
              <a:lnSpc>
                <a:spcPct val="90000"/>
              </a:lnSpc>
            </a:pPr>
            <a:r>
              <a:rPr lang="en-GB" sz="1800" noProof="0" dirty="0" err="1"/>
              <a:t>lsight</a:t>
            </a:r>
            <a:r>
              <a:rPr lang="en-GB" sz="1800" noProof="0" dirty="0"/>
              <a:t> &amp; </a:t>
            </a:r>
            <a:r>
              <a:rPr lang="en-GB" sz="1800" noProof="0" dirty="0" err="1"/>
              <a:t>rsight</a:t>
            </a:r>
            <a:endParaRPr lang="en-GB" sz="1800" noProof="0" dirty="0"/>
          </a:p>
          <a:p>
            <a:pPr>
              <a:lnSpc>
                <a:spcPct val="90000"/>
              </a:lnSpc>
            </a:pPr>
            <a:r>
              <a:rPr lang="en-GB" b="1" noProof="0" dirty="0"/>
              <a:t>Face recognition</a:t>
            </a:r>
            <a:endParaRPr lang="en-GB" b="1" dirty="0"/>
          </a:p>
          <a:p>
            <a:pPr lvl="1">
              <a:lnSpc>
                <a:spcPct val="90000"/>
              </a:lnSpc>
            </a:pPr>
            <a:r>
              <a:rPr lang="en-GB" sz="1800" noProof="0" dirty="0"/>
              <a:t>face1</a:t>
            </a:r>
          </a:p>
          <a:p>
            <a:pPr>
              <a:lnSpc>
                <a:spcPct val="90000"/>
              </a:lnSpc>
            </a:pPr>
            <a:r>
              <a:rPr lang="en-GB" b="1" noProof="0" dirty="0"/>
              <a:t>Vital capacity</a:t>
            </a:r>
            <a:endParaRPr lang="en-GB" b="1" dirty="0"/>
          </a:p>
          <a:p>
            <a:pPr lvl="1">
              <a:lnSpc>
                <a:spcPct val="90000"/>
              </a:lnSpc>
            </a:pPr>
            <a:r>
              <a:rPr lang="en-GB" sz="1800" noProof="0" dirty="0" err="1"/>
              <a:t>vc</a:t>
            </a:r>
            <a:endParaRPr lang="en-GB" sz="1800" noProof="0" dirty="0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3F5B084C-C0B4-7340-FC42-76E3E7BEA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985" y="1404631"/>
            <a:ext cx="3948470" cy="3188389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762C9-5B0F-FF0E-D02C-B02BAE61D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500" noProof="0"/>
              <a:t>Karolinska </a:t>
            </a:r>
            <a:r>
              <a:rPr lang="en-GB" sz="500" noProof="0" err="1"/>
              <a:t>Institutet</a:t>
            </a:r>
            <a:r>
              <a:rPr lang="en-GB" sz="500" noProof="0"/>
              <a:t>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8172D-993F-2FDA-AD98-6C2BD887E1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30/11/2025</a:t>
            </a:fld>
            <a:endParaRPr lang="en-GB" sz="5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90DDD-3ED6-CB13-9824-2071D209D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GB" sz="500" noProof="0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5B5BCD81-D937-FEFE-87AC-9876B09BB39C}"/>
              </a:ext>
            </a:extLst>
          </p:cNvPr>
          <p:cNvSpPr txBox="1"/>
          <p:nvPr/>
        </p:nvSpPr>
        <p:spPr>
          <a:xfrm>
            <a:off x="5837901" y="4557401"/>
            <a:ext cx="2804846" cy="230832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900" dirty="0">
                <a:latin typeface="+mn-lt"/>
              </a:rPr>
              <a:t>Key variables 10-year mortality prediction</a:t>
            </a:r>
          </a:p>
        </p:txBody>
      </p:sp>
    </p:spTree>
    <p:extLst>
      <p:ext uri="{BB962C8B-B14F-4D97-AF65-F5344CB8AC3E}">
        <p14:creationId xmlns:p14="http://schemas.microsoft.com/office/powerpoint/2010/main" val="3084369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2E3C7-2845-4D74-5111-818356A2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71" y="339502"/>
            <a:ext cx="8632045" cy="857250"/>
          </a:xfrm>
        </p:spPr>
        <p:txBody>
          <a:bodyPr wrap="square" anchor="t">
            <a:normAutofit/>
          </a:bodyPr>
          <a:lstStyle/>
          <a:p>
            <a:r>
              <a:rPr lang="en-GB" noProof="0" dirty="0"/>
              <a:t>Individualised </a:t>
            </a:r>
            <a:r>
              <a:rPr lang="en-GB" noProof="0"/>
              <a:t>Risk </a:t>
            </a:r>
            <a:r>
              <a:rPr lang="en-GB"/>
              <a:t>A</a:t>
            </a:r>
            <a:r>
              <a:rPr lang="en-GB" noProof="0"/>
              <a:t>ssessment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9312F-B942-9EA2-5132-B802BA05BC5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57563" y="1567543"/>
            <a:ext cx="4236535" cy="3106511"/>
          </a:xfrm>
        </p:spPr>
        <p:txBody>
          <a:bodyPr wrap="square" anchor="t">
            <a:normAutofit fontScale="92500" lnSpcReduction="10000"/>
          </a:bodyPr>
          <a:lstStyle/>
          <a:p>
            <a:r>
              <a:rPr lang="en-GB" sz="1600" b="1" noProof="0" dirty="0"/>
              <a:t>Age not a significant factor</a:t>
            </a:r>
            <a:endParaRPr lang="en-GB" sz="1400" noProof="0" dirty="0"/>
          </a:p>
          <a:p>
            <a:r>
              <a:rPr lang="en-GB" sz="1600" b="1" noProof="0" dirty="0"/>
              <a:t>Slow at the functional tests</a:t>
            </a:r>
          </a:p>
          <a:p>
            <a:pPr lvl="1"/>
            <a:r>
              <a:rPr lang="en-GB" sz="1400" noProof="0" dirty="0" err="1"/>
              <a:t>Ttime</a:t>
            </a:r>
            <a:r>
              <a:rPr lang="en-GB" sz="1400" noProof="0" dirty="0"/>
              <a:t>, </a:t>
            </a:r>
            <a:r>
              <a:rPr lang="en-GB" sz="1400" noProof="0" dirty="0" err="1"/>
              <a:t>dialti</a:t>
            </a:r>
            <a:r>
              <a:rPr lang="en-GB" sz="1400" noProof="0" dirty="0"/>
              <a:t>, </a:t>
            </a:r>
            <a:r>
              <a:rPr lang="en-GB" sz="1400" noProof="0" dirty="0" err="1"/>
              <a:t>slotti</a:t>
            </a:r>
            <a:endParaRPr lang="en-GB" sz="1400" noProof="0" dirty="0"/>
          </a:p>
          <a:p>
            <a:r>
              <a:rPr lang="en-GB" sz="1600" b="1" noProof="0" dirty="0"/>
              <a:t>Poor vision</a:t>
            </a:r>
            <a:endParaRPr lang="en-GB" sz="1600" b="1" dirty="0"/>
          </a:p>
          <a:p>
            <a:pPr lvl="1"/>
            <a:r>
              <a:rPr lang="en-GB" sz="1400" dirty="0" err="1"/>
              <a:t>rsight</a:t>
            </a:r>
            <a:endParaRPr lang="en-GB" sz="1400" noProof="0" dirty="0"/>
          </a:p>
          <a:p>
            <a:r>
              <a:rPr lang="en-GB" sz="1600" b="1" noProof="0" dirty="0"/>
              <a:t>Good proximal muscle function</a:t>
            </a:r>
            <a:endParaRPr lang="en-GB" sz="1600" b="1" dirty="0"/>
          </a:p>
          <a:p>
            <a:pPr lvl="1"/>
            <a:r>
              <a:rPr lang="en-GB" sz="1400" dirty="0" err="1"/>
              <a:t>Prox</a:t>
            </a:r>
            <a:endParaRPr lang="en-GB" sz="1400" dirty="0"/>
          </a:p>
          <a:p>
            <a:pPr lvl="1"/>
            <a:r>
              <a:rPr lang="en-GB" sz="1400" noProof="0" dirty="0"/>
              <a:t>Lowers mortality risk</a:t>
            </a:r>
          </a:p>
          <a:p>
            <a:r>
              <a:rPr lang="en-GB" sz="1600" b="1" noProof="0" dirty="0"/>
              <a:t>Missing values for lung measurements</a:t>
            </a:r>
            <a:endParaRPr lang="en-GB" sz="1600" b="1" dirty="0"/>
          </a:p>
          <a:p>
            <a:pPr lvl="1"/>
            <a:r>
              <a:rPr lang="en-GB" sz="1400" dirty="0" err="1"/>
              <a:t>Fvc</a:t>
            </a:r>
            <a:r>
              <a:rPr lang="en-GB" sz="1400" dirty="0"/>
              <a:t>, fv1</a:t>
            </a:r>
            <a:endParaRPr lang="en-GB" sz="1400" noProof="0" dirty="0"/>
          </a:p>
          <a:p>
            <a:r>
              <a:rPr lang="en-GB" sz="1600" b="1" dirty="0"/>
              <a:t>Low scores in cognitive test</a:t>
            </a:r>
          </a:p>
          <a:p>
            <a:pPr lvl="1"/>
            <a:r>
              <a:rPr lang="en-GB" sz="1400" dirty="0" err="1"/>
              <a:t>Bfigid</a:t>
            </a:r>
            <a:r>
              <a:rPr lang="en-GB" sz="1400" dirty="0"/>
              <a:t>: figure identification</a:t>
            </a:r>
          </a:p>
          <a:p>
            <a:pPr lvl="1"/>
            <a:r>
              <a:rPr lang="en-GB" sz="1400" noProof="0" dirty="0"/>
              <a:t>Face1: face recognition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3CBE6-DA7D-7B4A-FA20-59B707007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500" noProof="0"/>
              <a:t>Karolinska Institutet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86499-109E-391E-A2CC-B2E67819A4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30/11/2025</a:t>
            </a:fld>
            <a:endParaRPr lang="en-GB" sz="5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0AF2D-7381-28E6-495F-A3EECF59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en-GB" sz="500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040628-049A-5F8A-35C9-012B1ACA26BF}"/>
              </a:ext>
            </a:extLst>
          </p:cNvPr>
          <p:cNvSpPr txBox="1"/>
          <p:nvPr/>
        </p:nvSpPr>
        <p:spPr>
          <a:xfrm>
            <a:off x="4572000" y="1067237"/>
            <a:ext cx="4314436" cy="584775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600" noProof="0" dirty="0">
                <a:latin typeface="+mn-lt"/>
              </a:rPr>
              <a:t>Individual 10-year Mortality Risk Assessment: 77%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8D36EBD-9FC7-022C-BD9E-E35A3ADD3948}"/>
              </a:ext>
            </a:extLst>
          </p:cNvPr>
          <p:cNvSpPr txBox="1">
            <a:spLocks/>
          </p:cNvSpPr>
          <p:nvPr/>
        </p:nvSpPr>
        <p:spPr bwMode="auto">
          <a:xfrm>
            <a:off x="255971" y="1061686"/>
            <a:ext cx="4137323" cy="307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à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buChar char="à"/>
              <a:defRPr sz="12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charset="2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kern="0"/>
              <a:t>Variable contributions for one person</a:t>
            </a:r>
            <a:endParaRPr lang="en-GB" sz="1600" kern="0" dirty="0"/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A5B65DC3-4121-44AE-695B-A133C9D62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79" y="1701936"/>
            <a:ext cx="3804168" cy="268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730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B2CB7-5E21-3DF1-8963-A7EA3AB6E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71" y="339502"/>
            <a:ext cx="8632045" cy="857250"/>
          </a:xfrm>
        </p:spPr>
        <p:txBody>
          <a:bodyPr wrap="square" anchor="t">
            <a:normAutofit/>
          </a:bodyPr>
          <a:lstStyle/>
          <a:p>
            <a:r>
              <a:rPr lang="en-GB" noProof="0"/>
              <a:t>Value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18BB-7895-CD99-D530-D515F06A9F7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56774" y="1139663"/>
            <a:ext cx="4170039" cy="3648570"/>
          </a:xfrm>
        </p:spPr>
        <p:txBody>
          <a:bodyPr wrap="square" anchor="ctr">
            <a:normAutofit/>
          </a:bodyPr>
          <a:lstStyle/>
          <a:p>
            <a:r>
              <a:rPr lang="en-GB" sz="1600" noProof="0" dirty="0"/>
              <a:t>Shows a measurement’s impact on mortality risk</a:t>
            </a:r>
          </a:p>
          <a:p>
            <a:pPr lvl="1"/>
            <a:r>
              <a:rPr lang="en-GB" sz="1400" noProof="0" dirty="0"/>
              <a:t>Red = high values, blue = low values</a:t>
            </a:r>
          </a:p>
          <a:p>
            <a:r>
              <a:rPr lang="en-GB" sz="1600" noProof="0" dirty="0"/>
              <a:t>Position shows if factor increases (right) or decreases (left) risk</a:t>
            </a:r>
          </a:p>
          <a:p>
            <a:r>
              <a:rPr lang="en-GB" sz="1600" noProof="0" dirty="0"/>
              <a:t>High sedimentation rate (</a:t>
            </a:r>
            <a:r>
              <a:rPr lang="en-GB" sz="1600" noProof="0" dirty="0" err="1"/>
              <a:t>sedim</a:t>
            </a:r>
            <a:r>
              <a:rPr lang="en-GB" sz="1600" noProof="0" dirty="0"/>
              <a:t>) as significant as blood pressure</a:t>
            </a:r>
          </a:p>
          <a:p>
            <a:r>
              <a:rPr lang="en-GB" sz="1600" noProof="0" dirty="0"/>
              <a:t>Low vital capacity (</a:t>
            </a:r>
            <a:r>
              <a:rPr lang="en-GB" sz="1600" noProof="0" dirty="0" err="1"/>
              <a:t>vc</a:t>
            </a:r>
            <a:r>
              <a:rPr lang="en-GB" sz="1600" noProof="0" dirty="0"/>
              <a:t>) significant</a:t>
            </a:r>
          </a:p>
          <a:p>
            <a:r>
              <a:rPr lang="en-GB" sz="1600" noProof="0" dirty="0"/>
              <a:t>Low scores in </a:t>
            </a:r>
            <a:r>
              <a:rPr lang="en-GB" sz="1600" noProof="0" dirty="0" err="1"/>
              <a:t>asymb</a:t>
            </a:r>
            <a:r>
              <a:rPr lang="en-GB" sz="1600" noProof="0" dirty="0"/>
              <a:t> &amp; </a:t>
            </a:r>
            <a:r>
              <a:rPr lang="en-GB" sz="1600" noProof="0" dirty="0" err="1"/>
              <a:t>bsymb</a:t>
            </a:r>
            <a:r>
              <a:rPr lang="en-GB" sz="1600" noProof="0" dirty="0"/>
              <a:t> significant </a:t>
            </a:r>
          </a:p>
          <a:p>
            <a:r>
              <a:rPr lang="en-GB" sz="1600" dirty="0"/>
              <a:t>High time for lamp insertion (</a:t>
            </a:r>
            <a:r>
              <a:rPr lang="en-GB" sz="1600" dirty="0" err="1"/>
              <a:t>lampti</a:t>
            </a:r>
            <a:r>
              <a:rPr lang="en-GB" sz="1600" dirty="0"/>
              <a:t>) significant</a:t>
            </a:r>
            <a:endParaRPr lang="en-GB" sz="1600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0448C5-30A7-DB0E-0F28-E2E9636E1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427" y="717275"/>
            <a:ext cx="3335614" cy="4156683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A8B9C-9D60-3B42-2BFD-2158C9E4E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500" noProof="0"/>
              <a:t>Karolinska </a:t>
            </a:r>
            <a:r>
              <a:rPr lang="en-GB" sz="500" noProof="0" err="1"/>
              <a:t>Institutet</a:t>
            </a:r>
            <a:r>
              <a:rPr lang="en-GB" sz="500" noProof="0"/>
              <a:t>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C8F08-E613-4BF5-4B55-CE30B39F02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4788233"/>
            <a:ext cx="19050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B99A5A2-19A1-4CFC-BFE3-8B9C2E2B5BE0}" type="datetime1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30/11/2025</a:t>
            </a:fld>
            <a:endParaRPr lang="en-GB" sz="500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4D909-6DAE-4889-7BD1-9B30C052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4788233"/>
            <a:ext cx="685800" cy="17145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5859C56-CB7E-413F-8971-4226A1EF6823}" type="slidenum">
              <a:rPr lang="en-GB" sz="5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en-GB" sz="500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83704E-B1E2-8120-F28B-07C91DBB5684}"/>
              </a:ext>
            </a:extLst>
          </p:cNvPr>
          <p:cNvSpPr txBox="1"/>
          <p:nvPr/>
        </p:nvSpPr>
        <p:spPr>
          <a:xfrm>
            <a:off x="4964824" y="453744"/>
            <a:ext cx="3390820" cy="26161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noProof="0" dirty="0">
                <a:latin typeface="+mn-lt"/>
              </a:rPr>
              <a:t>Summary plot for a 20-year </a:t>
            </a:r>
            <a:r>
              <a:rPr lang="en-GB" sz="1100" dirty="0">
                <a:latin typeface="+mn-lt"/>
              </a:rPr>
              <a:t>mortality prediction</a:t>
            </a:r>
            <a:endParaRPr lang="en-GB" sz="1100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1741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BBA796E-5E8F-4EF7-23C8-BA094A5B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2525672-5329-5080-02FC-817C95DC2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</a:p>
        </p:txBody>
      </p:sp>
      <p:sp>
        <p:nvSpPr>
          <p:cNvPr id="6" name="Platshållare för datum 5">
            <a:extLst>
              <a:ext uri="{FF2B5EF4-FFF2-40B4-BE49-F238E27FC236}">
                <a16:creationId xmlns:a16="http://schemas.microsoft.com/office/drawing/2014/main" id="{B689596D-50A4-8AA0-6E4B-7B5ECBC6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F560-0FA5-4CC3-99C4-83095CAE330C}" type="datetime1">
              <a:rPr lang="en-GB" smtClean="0"/>
              <a:t>30/11/2025</a:t>
            </a:fld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00B0FBE-08F3-CC4E-83B7-82390FEB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98C6-00F0-4387-A9BA-FB521E0564CA}" type="slidenum">
              <a:rPr lang="sv-SE" smtClean="0"/>
              <a:pPr/>
              <a:t>18</a:t>
            </a:fld>
            <a:endParaRPr lang="sv-SE"/>
          </a:p>
        </p:txBody>
      </p:sp>
      <p:sp>
        <p:nvSpPr>
          <p:cNvPr id="8" name="Rektangel: rundade hörn 7">
            <a:extLst>
              <a:ext uri="{FF2B5EF4-FFF2-40B4-BE49-F238E27FC236}">
                <a16:creationId xmlns:a16="http://schemas.microsoft.com/office/drawing/2014/main" id="{2A3DA4AD-41D2-A480-1C84-BDC68EA381E7}"/>
              </a:ext>
            </a:extLst>
          </p:cNvPr>
          <p:cNvSpPr/>
          <p:nvPr/>
        </p:nvSpPr>
        <p:spPr bwMode="auto">
          <a:xfrm>
            <a:off x="428625" y="900113"/>
            <a:ext cx="2667000" cy="3657600"/>
          </a:xfrm>
          <a:prstGeom prst="roundRect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GB" sz="1600" b="1" noProof="0" dirty="0">
                <a:solidFill>
                  <a:schemeClr val="bg1"/>
                </a:solidFill>
                <a:latin typeface="+mn-lt"/>
              </a:rPr>
              <a:t>Significant for a </a:t>
            </a:r>
          </a:p>
          <a:p>
            <a:r>
              <a:rPr lang="en-GB" sz="1600" b="1" noProof="0" dirty="0">
                <a:solidFill>
                  <a:schemeClr val="bg1"/>
                </a:solidFill>
                <a:latin typeface="+mn-lt"/>
              </a:rPr>
              <a:t>20-year mortality prediction*</a:t>
            </a:r>
          </a:p>
          <a:p>
            <a:endParaRPr lang="en-GB" sz="1600" b="1" noProof="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bg1"/>
                </a:solidFill>
                <a:latin typeface="+mn-lt"/>
              </a:rPr>
              <a:t>Cognitive performance: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noProof="0" dirty="0">
                <a:solidFill>
                  <a:schemeClr val="bg1"/>
                </a:solidFill>
                <a:latin typeface="+mn-lt"/>
              </a:rPr>
              <a:t>Perceptual speed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+mn-lt"/>
              </a:rPr>
              <a:t>Spatial ability</a:t>
            </a:r>
            <a:endParaRPr lang="en-GB" sz="1200" noProof="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bg1"/>
                </a:solidFill>
                <a:latin typeface="+mn-lt"/>
              </a:rPr>
              <a:t>Metabolic measurement: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+mn-lt"/>
              </a:rPr>
              <a:t>T</a:t>
            </a:r>
            <a:r>
              <a:rPr lang="en-GB" sz="1200" noProof="0" dirty="0" err="1">
                <a:solidFill>
                  <a:schemeClr val="bg1"/>
                </a:solidFill>
                <a:latin typeface="+mn-lt"/>
              </a:rPr>
              <a:t>riglyceride</a:t>
            </a:r>
            <a:r>
              <a:rPr lang="en-GB" sz="1200" noProof="0" dirty="0">
                <a:solidFill>
                  <a:schemeClr val="bg1"/>
                </a:solidFill>
                <a:latin typeface="+mn-lt"/>
              </a:rPr>
              <a:t>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Blood pressure</a:t>
            </a:r>
            <a:endParaRPr lang="en-GB" sz="1400" noProof="0" dirty="0">
              <a:solidFill>
                <a:schemeClr val="bg1"/>
              </a:solidFill>
              <a:latin typeface="+mn-lt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9" name="Rektangel: rundade hörn 8">
            <a:extLst>
              <a:ext uri="{FF2B5EF4-FFF2-40B4-BE49-F238E27FC236}">
                <a16:creationId xmlns:a16="http://schemas.microsoft.com/office/drawing/2014/main" id="{D0F75F82-9C36-E7A7-D6C8-C540A9F7DE40}"/>
              </a:ext>
            </a:extLst>
          </p:cNvPr>
          <p:cNvSpPr/>
          <p:nvPr/>
        </p:nvSpPr>
        <p:spPr bwMode="auto">
          <a:xfrm>
            <a:off x="3250406" y="900113"/>
            <a:ext cx="2667000" cy="3657600"/>
          </a:xfrm>
          <a:prstGeom prst="roundRect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GB" sz="1600" b="1" noProof="0" dirty="0">
                <a:solidFill>
                  <a:schemeClr val="bg1"/>
                </a:solidFill>
                <a:latin typeface="+mn-lt"/>
              </a:rPr>
              <a:t>Significant for a </a:t>
            </a:r>
          </a:p>
          <a:p>
            <a:r>
              <a:rPr lang="en-GB" sz="1600" b="1" noProof="0" dirty="0">
                <a:solidFill>
                  <a:schemeClr val="bg1"/>
                </a:solidFill>
                <a:latin typeface="+mn-lt"/>
              </a:rPr>
              <a:t>10-year mortality prediction</a:t>
            </a:r>
          </a:p>
          <a:p>
            <a:endParaRPr lang="en-GB" sz="1600" b="1" noProof="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bg1"/>
                </a:solidFill>
                <a:latin typeface="+mn-lt"/>
              </a:rPr>
              <a:t>Cardiovascular measurements: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+mn-lt"/>
              </a:rPr>
              <a:t>T</a:t>
            </a:r>
            <a:r>
              <a:rPr lang="en-GB" sz="1200" noProof="0" dirty="0" err="1">
                <a:solidFill>
                  <a:schemeClr val="bg1"/>
                </a:solidFill>
                <a:latin typeface="+mn-lt"/>
              </a:rPr>
              <a:t>hrombocyte</a:t>
            </a:r>
            <a:r>
              <a:rPr lang="en-GB" sz="1200" noProof="0" dirty="0">
                <a:solidFill>
                  <a:schemeClr val="bg1"/>
                </a:solidFill>
                <a:latin typeface="+mn-lt"/>
              </a:rPr>
              <a:t> counts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+mn-lt"/>
              </a:rPr>
              <a:t>C</a:t>
            </a:r>
            <a:r>
              <a:rPr lang="en-GB" sz="1200" noProof="0" dirty="0" err="1">
                <a:solidFill>
                  <a:schemeClr val="bg1"/>
                </a:solidFill>
                <a:latin typeface="+mn-lt"/>
              </a:rPr>
              <a:t>holesterol</a:t>
            </a:r>
            <a:r>
              <a:rPr lang="en-GB" sz="1200" noProof="0" dirty="0">
                <a:solidFill>
                  <a:schemeClr val="bg1"/>
                </a:solidFill>
                <a:latin typeface="+mn-lt"/>
              </a:rPr>
              <a:t> levels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+mn-lt"/>
              </a:rPr>
              <a:t>E</a:t>
            </a:r>
            <a:r>
              <a:rPr lang="en-GB" sz="1200" noProof="0" dirty="0" err="1">
                <a:solidFill>
                  <a:schemeClr val="bg1"/>
                </a:solidFill>
                <a:latin typeface="+mn-lt"/>
              </a:rPr>
              <a:t>rythrocyte</a:t>
            </a:r>
            <a:r>
              <a:rPr lang="en-GB" sz="1200" noProof="0" dirty="0">
                <a:solidFill>
                  <a:schemeClr val="bg1"/>
                </a:solidFill>
                <a:latin typeface="+mn-lt"/>
              </a:rPr>
              <a:t> sedimentation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bg1"/>
                </a:solidFill>
                <a:latin typeface="+mn-lt"/>
              </a:rPr>
              <a:t>Functional assessments: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+mn-lt"/>
              </a:rPr>
              <a:t>G</a:t>
            </a:r>
            <a:r>
              <a:rPr lang="en-GB" sz="1200" noProof="0" dirty="0">
                <a:solidFill>
                  <a:schemeClr val="bg1"/>
                </a:solidFill>
                <a:latin typeface="+mn-lt"/>
              </a:rPr>
              <a:t>rip strength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+mn-lt"/>
              </a:rPr>
              <a:t>F</a:t>
            </a:r>
            <a:r>
              <a:rPr lang="en-GB" sz="1200" noProof="0" dirty="0" err="1">
                <a:solidFill>
                  <a:schemeClr val="bg1"/>
                </a:solidFill>
                <a:latin typeface="+mn-lt"/>
              </a:rPr>
              <a:t>ine</a:t>
            </a:r>
            <a:r>
              <a:rPr lang="en-GB" sz="1200" noProof="0" dirty="0">
                <a:solidFill>
                  <a:schemeClr val="bg1"/>
                </a:solidFill>
                <a:latin typeface="+mn-lt"/>
              </a:rPr>
              <a:t> motor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bg1"/>
                </a:solidFill>
                <a:latin typeface="+mn-lt"/>
              </a:rPr>
              <a:t>Long-term memory difficulties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0" name="Rektangel: rundade hörn 9">
            <a:extLst>
              <a:ext uri="{FF2B5EF4-FFF2-40B4-BE49-F238E27FC236}">
                <a16:creationId xmlns:a16="http://schemas.microsoft.com/office/drawing/2014/main" id="{E7F4A445-EE97-B99A-A289-B9E3415E7BFF}"/>
              </a:ext>
            </a:extLst>
          </p:cNvPr>
          <p:cNvSpPr/>
          <p:nvPr/>
        </p:nvSpPr>
        <p:spPr bwMode="auto">
          <a:xfrm>
            <a:off x="6072187" y="900113"/>
            <a:ext cx="2667000" cy="3657600"/>
          </a:xfrm>
          <a:prstGeom prst="roundRect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GB" sz="1600" b="1" noProof="0" dirty="0">
                <a:solidFill>
                  <a:schemeClr val="bg1"/>
                </a:solidFill>
                <a:latin typeface="+mn-lt"/>
              </a:rPr>
              <a:t>Significant across both prediction windows</a:t>
            </a:r>
          </a:p>
          <a:p>
            <a:endParaRPr lang="en-GB" sz="1600" b="1" noProof="0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bg1"/>
                </a:solidFill>
                <a:latin typeface="+mn-lt"/>
              </a:rPr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bg1"/>
                </a:solidFill>
                <a:latin typeface="+mn-lt"/>
              </a:rPr>
              <a:t>Vision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bg1"/>
                </a:solidFill>
                <a:latin typeface="+mn-lt"/>
              </a:rPr>
              <a:t>Apolipoprotein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bg1"/>
                </a:solidFill>
                <a:latin typeface="+mn-lt"/>
              </a:rPr>
              <a:t>Facial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bg1"/>
                </a:solidFill>
                <a:latin typeface="+mn-lt"/>
              </a:rPr>
              <a:t>Respiratory function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D78904F8-E103-634F-3E53-1157CF6C368A}"/>
              </a:ext>
            </a:extLst>
          </p:cNvPr>
          <p:cNvSpPr txBox="1"/>
          <p:nvPr/>
        </p:nvSpPr>
        <p:spPr>
          <a:xfrm>
            <a:off x="557212" y="3866789"/>
            <a:ext cx="2395538" cy="52322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i="1" dirty="0">
                <a:solidFill>
                  <a:schemeClr val="bg1"/>
                </a:solidFill>
                <a:latin typeface="+mn-lt"/>
              </a:rPr>
              <a:t>* Symbolises degenerative factors</a:t>
            </a:r>
          </a:p>
        </p:txBody>
      </p:sp>
    </p:spTree>
    <p:extLst>
      <p:ext uri="{BB962C8B-B14F-4D97-AF65-F5344CB8AC3E}">
        <p14:creationId xmlns:p14="http://schemas.microsoft.com/office/powerpoint/2010/main" val="717412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DBE10-B555-B4C8-3F6A-7B59133A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Limitations </a:t>
            </a:r>
            <a:r>
              <a:rPr lang="en-GB" noProof="0"/>
              <a:t>to Study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CE729-A02D-92A3-B4A1-23649D541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600" b="1" noProof="0" dirty="0"/>
              <a:t>Single time-point measurement</a:t>
            </a:r>
          </a:p>
          <a:p>
            <a:pPr lvl="1"/>
            <a:r>
              <a:rPr lang="en-GB" sz="1400" noProof="0" dirty="0"/>
              <a:t>Missing health trajectories over time</a:t>
            </a:r>
          </a:p>
          <a:p>
            <a:pPr lvl="1"/>
            <a:r>
              <a:rPr lang="en-GB" sz="1400" dirty="0"/>
              <a:t>Future work: include all measurements from all IPTs</a:t>
            </a:r>
            <a:endParaRPr lang="en-GB" sz="1400" noProof="0" dirty="0"/>
          </a:p>
          <a:p>
            <a:r>
              <a:rPr lang="en-GB" sz="1600" b="1" noProof="0" dirty="0"/>
              <a:t>No imputation or use of synthetic data</a:t>
            </a:r>
          </a:p>
          <a:p>
            <a:pPr lvl="1"/>
            <a:r>
              <a:rPr lang="en-GB" sz="1400" noProof="0" dirty="0"/>
              <a:t>Limited to tree-based ML models</a:t>
            </a:r>
          </a:p>
          <a:p>
            <a:pPr lvl="1"/>
            <a:r>
              <a:rPr lang="en-GB" sz="1400" noProof="0" dirty="0"/>
              <a:t>Unable to balance data sets using synthetic data</a:t>
            </a:r>
          </a:p>
          <a:p>
            <a:pPr lvl="1"/>
            <a:r>
              <a:rPr lang="en-GB" sz="1400" noProof="0" dirty="0"/>
              <a:t>Future work: imputation with sensitivity analysis</a:t>
            </a:r>
          </a:p>
          <a:p>
            <a:r>
              <a:rPr lang="en-GB" sz="1600" b="1" noProof="0" dirty="0"/>
              <a:t>Little feature engineering</a:t>
            </a:r>
          </a:p>
          <a:p>
            <a:pPr lvl="1"/>
            <a:r>
              <a:rPr lang="en-GB" sz="1400" noProof="0" dirty="0"/>
              <a:t>Almost every variable is in the training data</a:t>
            </a:r>
          </a:p>
          <a:p>
            <a:pPr lvl="1"/>
            <a:r>
              <a:rPr lang="en-GB" sz="1400" noProof="0" dirty="0"/>
              <a:t>Future work: reduce to domain specific features to improve accuracy</a:t>
            </a:r>
          </a:p>
          <a:p>
            <a:pPr lvl="1"/>
            <a:endParaRPr lang="en-GB" sz="1400" noProof="0" dirty="0"/>
          </a:p>
          <a:p>
            <a:pPr lvl="1"/>
            <a:endParaRPr lang="en-GB" sz="1400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1D568-D2FA-21EE-C576-EC3A0AB8A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/>
              <a:t>Karolinska </a:t>
            </a:r>
            <a:r>
              <a:rPr lang="en-GB" noProof="0" err="1"/>
              <a:t>Institutet</a:t>
            </a:r>
            <a:r>
              <a:rPr lang="en-GB" noProof="0"/>
              <a:t> - a medical university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B3A0B-3E1B-E449-FF36-6D765902D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noProof="0" smtClean="0"/>
              <a:t>30/11/2025</a:t>
            </a:fld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8FC48-063F-8B74-009D-658206F8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en-GB" noProof="0" smtClean="0"/>
              <a:pPr/>
              <a:t>19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25893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704812"/>
      </p:ext>
    </p:extLst>
  </p:cSld>
  <p:clrMapOvr>
    <a:masterClrMapping/>
  </p:clrMapOvr>
</p:sld>
</file>

<file path=ppt/theme/theme1.xml><?xml version="1.0" encoding="utf-8"?>
<a:theme xmlns:a="http://schemas.openxmlformats.org/drawingml/2006/main" name="16:9 Plum eng">
  <a:themeElements>
    <a:clrScheme name="K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F0433"/>
      </a:accent1>
      <a:accent2>
        <a:srgbClr val="FF876F"/>
      </a:accent2>
      <a:accent3>
        <a:srgbClr val="870052"/>
      </a:accent3>
      <a:accent4>
        <a:srgbClr val="FFDDD6"/>
      </a:accent4>
      <a:accent5>
        <a:srgbClr val="4DB5BC"/>
      </a:accent5>
      <a:accent6>
        <a:srgbClr val="CCEBED"/>
      </a:accent6>
      <a:hlink>
        <a:srgbClr val="870052"/>
      </a:hlink>
      <a:folHlink>
        <a:srgbClr val="C490AA"/>
      </a:folHlink>
    </a:clrScheme>
    <a:fontScheme name="KI PPT">
      <a:majorFont>
        <a:latin typeface="DM Sans Medium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  <a:txDef>
      <a:spPr>
        <a:noFill/>
        <a:ln w="6350">
          <a:solidFill>
            <a:schemeClr val="accent1"/>
          </a:solidFill>
        </a:ln>
      </a:spPr>
      <a:bodyPr wrap="none" rtlCol="0">
        <a:spAutoFit/>
      </a:bodyPr>
      <a:lstStyle>
        <a:defPPr algn="l">
          <a:defRPr sz="1400" dirty="0">
            <a:latin typeface="+mn-lt"/>
          </a:defRPr>
        </a:defPPr>
      </a:lstStyle>
    </a:txDef>
  </a:objectDefaults>
  <a:extraClrSchemeLst>
    <a:extraClrScheme>
      <a:clrScheme name="Office-tem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61B54"/>
        </a:accent1>
        <a:accent2>
          <a:srgbClr val="97D8DA"/>
        </a:accent2>
        <a:accent3>
          <a:srgbClr val="FFFFFF"/>
        </a:accent3>
        <a:accent4>
          <a:srgbClr val="000000"/>
        </a:accent4>
        <a:accent5>
          <a:srgbClr val="BDABB3"/>
        </a:accent5>
        <a:accent6>
          <a:srgbClr val="88C4C5"/>
        </a:accent6>
        <a:hlink>
          <a:srgbClr val="CF0063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_16_9_eng.potx" id="{AA86EBC1-CE29-4CF6-BF86-F7ADC847DCCC}" vid="{4130373F-5328-4CC3-92CD-A02E8B808A85}"/>
    </a:ext>
  </a:ext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F06922FB4C9134CA9D55EEAF168E54B" ma:contentTypeVersion="6" ma:contentTypeDescription="Skapa ett nytt dokument." ma:contentTypeScope="" ma:versionID="34138c934877c769cd147bb53c94e570">
  <xsd:schema xmlns:xsd="http://www.w3.org/2001/XMLSchema" xmlns:xs="http://www.w3.org/2001/XMLSchema" xmlns:p="http://schemas.microsoft.com/office/2006/metadata/properties" xmlns:ns3="46db0678-7653-4fc8-b8a7-d351e0835999" targetNamespace="http://schemas.microsoft.com/office/2006/metadata/properties" ma:root="true" ma:fieldsID="79890d164f4643e3ac5bddf35f912247" ns3:_="">
    <xsd:import namespace="46db0678-7653-4fc8-b8a7-d351e08359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b0678-7653-4fc8-b8a7-d351e08359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db0678-7653-4fc8-b8a7-d351e0835999" xsi:nil="true"/>
  </documentManagement>
</p:properties>
</file>

<file path=customXml/itemProps1.xml><?xml version="1.0" encoding="utf-8"?>
<ds:datastoreItem xmlns:ds="http://schemas.openxmlformats.org/officeDocument/2006/customXml" ds:itemID="{C88CE296-27E3-4B85-B0B5-A810AE53557C}">
  <ds:schemaRefs>
    <ds:schemaRef ds:uri="46db0678-7653-4fc8-b8a7-d351e08359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8B88F3E-C4C0-4E8F-ABBE-3367A9D01F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F79469-2F05-42F0-ADD1-5263841AE7B9}">
  <ds:schemaRefs>
    <ds:schemaRef ds:uri="46db0678-7653-4fc8-b8a7-d351e0835999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Presentation_16_9_eng</Template>
  <TotalTime>151</TotalTime>
  <Words>1302</Words>
  <Application>Microsoft Office PowerPoint</Application>
  <PresentationFormat>Bildspel på skärmen (16:9)</PresentationFormat>
  <Paragraphs>299</Paragraphs>
  <Slides>20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7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20</vt:i4>
      </vt:variant>
    </vt:vector>
  </HeadingPairs>
  <TitlesOfParts>
    <vt:vector size="28" baseType="lpstr">
      <vt:lpstr>Arial</vt:lpstr>
      <vt:lpstr>Courier New</vt:lpstr>
      <vt:lpstr>DM Sans</vt:lpstr>
      <vt:lpstr>DM Sans Medium</vt:lpstr>
      <vt:lpstr>Noto Sans</vt:lpstr>
      <vt:lpstr>Times</vt:lpstr>
      <vt:lpstr>Wingdings</vt:lpstr>
      <vt:lpstr>16:9 Plum eng</vt:lpstr>
      <vt:lpstr>Machine Learning for Mortality Risk Prediction: A Study on Cohort Data</vt:lpstr>
      <vt:lpstr>Introduction and Background</vt:lpstr>
      <vt:lpstr>Aim of Study</vt:lpstr>
      <vt:lpstr>SATSA: The Swedish Adoption/Twin Study of Aging​</vt:lpstr>
      <vt:lpstr>Description of In-Person Testing</vt:lpstr>
      <vt:lpstr>Examples of Variables Collected in the Study</vt:lpstr>
      <vt:lpstr>Main Challenges with SATSA Dataset</vt:lpstr>
      <vt:lpstr>Advantages of Supervised Machine Learning</vt:lpstr>
      <vt:lpstr>Methodology</vt:lpstr>
      <vt:lpstr>Flowchart of Data</vt:lpstr>
      <vt:lpstr>Random Forest Classifier</vt:lpstr>
      <vt:lpstr>Model Performance</vt:lpstr>
      <vt:lpstr>Key Variables 20-year Mortality Prediction</vt:lpstr>
      <vt:lpstr>Key Variables 10-year Mortality Prediction</vt:lpstr>
      <vt:lpstr>Common Key Predictors 10/20 years</vt:lpstr>
      <vt:lpstr>Individualised Risk Assessment</vt:lpstr>
      <vt:lpstr>Value Distribution</vt:lpstr>
      <vt:lpstr>Conclusions</vt:lpstr>
      <vt:lpstr>Limitations to Study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 Jakobsson</dc:creator>
  <cp:lastModifiedBy>Jim Jakobsson</cp:lastModifiedBy>
  <cp:revision>2</cp:revision>
  <cp:lastPrinted>2005-09-23T14:22:03Z</cp:lastPrinted>
  <dcterms:created xsi:type="dcterms:W3CDTF">2025-01-26T12:34:36Z</dcterms:created>
  <dcterms:modified xsi:type="dcterms:W3CDTF">2025-11-30T20:56:52Z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0x0101003F06922FB4C9134CA9D55EEAF168E54B</vt:lpwstr>
  </property>
</Properties>
</file>